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3" r:id="rId2"/>
    <p:sldId id="258" r:id="rId3"/>
    <p:sldId id="260" r:id="rId4"/>
    <p:sldId id="271" r:id="rId5"/>
    <p:sldId id="275" r:id="rId6"/>
    <p:sldId id="274" r:id="rId7"/>
    <p:sldId id="272" r:id="rId8"/>
    <p:sldId id="273" r:id="rId9"/>
    <p:sldId id="267" r:id="rId10"/>
    <p:sldId id="270" r:id="rId11"/>
    <p:sldId id="265" r:id="rId12"/>
    <p:sldId id="269" r:id="rId13"/>
    <p:sldId id="266" r:id="rId14"/>
    <p:sldId id="268" r:id="rId15"/>
    <p:sldId id="264" r:id="rId16"/>
    <p:sldId id="25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835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427F7-6152-4473-B640-307EA5F6D66B}" type="datetimeFigureOut">
              <a:rPr lang="en-US" smtClean="0"/>
              <a:t>29-Nov-25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54782A-8EC9-45D4-B23A-87D87FF330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825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132D1A5D-9DD1-A2A0-428A-3A55EFD33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:notes">
            <a:extLst>
              <a:ext uri="{FF2B5EF4-FFF2-40B4-BE49-F238E27FC236}">
                <a16:creationId xmlns:a16="http://schemas.microsoft.com/office/drawing/2014/main" id="{19667ACF-359D-88AA-B1A7-E34C018679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p:notes">
            <a:extLst>
              <a:ext uri="{FF2B5EF4-FFF2-40B4-BE49-F238E27FC236}">
                <a16:creationId xmlns:a16="http://schemas.microsoft.com/office/drawing/2014/main" id="{0B3988F6-E2C3-AEDA-1258-24BF6BD18C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Title slide template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38913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596D3-F08C-5D64-4CB7-FCB1562F4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28E671-C115-DD74-72CB-9DE87F9028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A16ED0-B390-15AF-2B99-5F5A98704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89AA5-403E-C8C1-650D-DD37D51D5E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4782A-8EC9-45D4-B23A-87D87FF3300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0783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545A0-9F73-D413-736E-870F918BF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F3F133-2D59-AA6B-8DF1-D2664CBEE5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A2A674-0D0A-A01E-2CB5-55C110741B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3D2473-B82B-3A51-CD81-361E5A1703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4782A-8EC9-45D4-B23A-87D87FF3300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6458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A6C53-211F-425B-8CE7-AFC7A053A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45FADE-2B5D-F7A2-CFB5-89C79F3247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964C02-32BC-3412-B247-95CB130A28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D120F-349D-FFF6-95BF-8B239AF050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4782A-8EC9-45D4-B23A-87D87FF3300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215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259AD-82AF-2DB0-F196-0C1D57440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D3DB43-EC05-CCD4-FEDE-3F8D36EE43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1759E5-307D-0FAE-AAEE-D55D27B813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C8D44-8CC6-9122-594E-5409436203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4782A-8EC9-45D4-B23A-87D87FF3300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20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2F4B6-8E82-8397-2BA5-F3BA9016F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CC0A47-FAFE-48E5-6624-1FBEEB10F2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54F2AF-9C3A-202B-F911-E124CED186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23050-8429-330F-099B-807F0E9F44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4782A-8EC9-45D4-B23A-87D87FF3300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249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EC64E-50E3-BE04-9FBA-8B89F3374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430D30-949E-B352-E07B-EFA32F7ADE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74D652-CB7C-C045-D6C2-867C00C24E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80264-6659-9379-8450-E85DD62D70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4782A-8EC9-45D4-B23A-87D87FF3300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0395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4782A-8EC9-45D4-B23A-87D87FF3300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6751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C1712-4F2A-8FD3-7EFA-740E3BB75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E8C5F4-4D77-FB0E-50DE-557A8FA0B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AB91B0-F066-F793-C04A-16AF2B187C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704DF7-A6E3-A081-26E8-EA54A7F127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4782A-8EC9-45D4-B23A-87D87FF3300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8707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93ABE-1246-D011-D544-AD896251B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4D354E-F9DE-6B0F-A427-238E2BEE05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844095-1CA2-15BD-5FC8-EB3D890D72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C660EE-5C9E-D583-4D8A-3091759F24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4782A-8EC9-45D4-B23A-87D87FF3300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0076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08859-997A-9B6B-8109-F5DC10D4C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FD185A-CCCE-DDFB-C894-B3559D6A27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31C34F-940B-D807-C511-2F155122F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A44E98-9244-8561-3955-77514472D1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4782A-8EC9-45D4-B23A-87D87FF3300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276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9BA04-2B73-CF44-DDEA-E96BAC7BB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F20B27-87DB-3386-C98A-1D8A55C227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2812E-4755-20AD-B9B0-83E9119C0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0495B-2CBC-4F2F-9C0C-85A8A768FDE5}" type="datetimeFigureOut">
              <a:rPr lang="en-US" smtClean="0"/>
              <a:t>29-Nov-25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3BBEF-25AE-0E69-3394-952B51427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6E81A-00BC-F84E-24CF-7E3470C75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AC320-410A-4E9E-A4F4-D3E91A91758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171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DBB00-0505-27BC-F882-4C9CCEA3D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2224E-B9D3-8FFB-42CD-9892285D4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E304B-2C8A-510F-E7B5-3D087A9FF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0495B-2CBC-4F2F-9C0C-85A8A768FDE5}" type="datetimeFigureOut">
              <a:rPr lang="en-US" smtClean="0"/>
              <a:t>29-Nov-25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F2DFB-F329-4EF1-CDA6-2158A7D6B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D9723-67BC-2073-D6B9-F02AB31FF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AC320-410A-4E9E-A4F4-D3E91A91758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764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BB0F4-F751-F1DE-C845-15FE2FE06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4C2725-9925-C9C3-EFD3-9DBC0E468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9E563-82DE-8465-A9BA-CEE78F2E4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0495B-2CBC-4F2F-9C0C-85A8A768FDE5}" type="datetimeFigureOut">
              <a:rPr lang="en-US" smtClean="0"/>
              <a:t>29-Nov-25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1D0EC-F854-7CF1-869B-F6341DC5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5DE6E-785D-F1F6-9E82-20B0698B8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AC320-410A-4E9E-A4F4-D3E91A91758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392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EA603-0ADE-920B-6FB4-4E0C9BA52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63DFE-F400-9BDC-5579-217614A730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D179B-1DEB-B617-7F86-62DA948438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C4641-EE21-C1FD-B929-7BE65E36A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0495B-2CBC-4F2F-9C0C-85A8A768FDE5}" type="datetimeFigureOut">
              <a:rPr lang="en-US" smtClean="0"/>
              <a:t>29-Nov-25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207E8C-2D5A-BC6A-43F8-87D6B8849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B234EB-7FEB-3D76-8D93-58C90C06C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AC320-410A-4E9E-A4F4-D3E91A91758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897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F70A7-E0F4-0697-EE96-359D10C49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D7871-261F-9DB8-FB44-05C65BC02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8076EA-36DF-6DC3-FD3F-32E58502FA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57282D-FE0A-2410-30FD-1E3978098F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931F5E-7112-3762-1DBF-0346342B55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9CB9D5-29F1-6397-8200-6F542D227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0495B-2CBC-4F2F-9C0C-85A8A768FDE5}" type="datetimeFigureOut">
              <a:rPr lang="en-US" smtClean="0"/>
              <a:t>29-Nov-25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5187DC-4CD4-8A0B-FCA9-1BC62F00D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C489FD-E205-B5DE-9C1A-978D72445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AC320-410A-4E9E-A4F4-D3E91A91758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01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F20B8-AFAE-30CC-6E98-89D689A72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E8A579-7361-93B0-BDB1-BEF49D6BF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0495B-2CBC-4F2F-9C0C-85A8A768FDE5}" type="datetimeFigureOut">
              <a:rPr lang="en-US" smtClean="0"/>
              <a:t>29-Nov-25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5EA14F-965C-63BE-0E2C-23CE1B362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04687A-443C-71D9-B5EE-14AB5CD37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AC320-410A-4E9E-A4F4-D3E91A91758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099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C79E8-1BDF-FF78-4A44-EF2AD0A8F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0495B-2CBC-4F2F-9C0C-85A8A768FDE5}" type="datetimeFigureOut">
              <a:rPr lang="en-US" smtClean="0"/>
              <a:t>29-Nov-25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646C16-DA12-51D6-54F2-5370D3359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91F57-4602-2106-0B9D-5BDEFD8E4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AC320-410A-4E9E-A4F4-D3E91A91758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92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A8370-BA3D-C538-18F0-A7C664D8C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1C73C-39D5-7188-7227-5FB441467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57D342-52CF-34D9-9971-93D19F3F6A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49B0C1-9E5D-B429-954D-D5BC91856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0495B-2CBC-4F2F-9C0C-85A8A768FDE5}" type="datetimeFigureOut">
              <a:rPr lang="en-US" smtClean="0"/>
              <a:t>29-Nov-25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786E2-1C87-58E7-5347-2AB7F60E9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6B8184-782F-2C85-BC3D-2B41A9CF1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AC320-410A-4E9E-A4F4-D3E91A91758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321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2FEB8-72D9-2B9E-3FA9-1D48573D9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4249DB-B1BC-6A6A-AAA1-CC3A0CE4F7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DEB8F3-2D30-2D2A-B899-59356E9D12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DB176E-EB5E-4DB6-B599-05CFCCD3F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0495B-2CBC-4F2F-9C0C-85A8A768FDE5}" type="datetimeFigureOut">
              <a:rPr lang="en-US" smtClean="0"/>
              <a:t>29-Nov-25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CD3B47-EE5D-4D1B-502E-48E804407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8CDF03-4A7B-4C43-BE05-F1D8A80F7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AC320-410A-4E9E-A4F4-D3E91A91758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006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AF2A2-DCBA-F028-8A43-DD7B9C02F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6A4D8F-2A9C-7E89-8169-F0A18D2081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C7CE7-707D-B383-4CA8-1C4765FB5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0495B-2CBC-4F2F-9C0C-85A8A768FDE5}" type="datetimeFigureOut">
              <a:rPr lang="en-US" smtClean="0"/>
              <a:t>29-Nov-25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33587-18D7-D75E-1692-DA5469B61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F7985-93E1-BC00-0664-EEFFC188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AC320-410A-4E9E-A4F4-D3E91A91758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197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40B58F-76A6-67FE-8C98-44C309E1B2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644A57-C148-A846-F946-8BC290CA2B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1F130-DA5D-7B64-8D5F-E8DDBEA4F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0495B-2CBC-4F2F-9C0C-85A8A768FDE5}" type="datetimeFigureOut">
              <a:rPr lang="en-US" smtClean="0"/>
              <a:t>29-Nov-25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45668-501F-B3C0-8D40-A8A7AC137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0FED3-442D-BC06-6953-6AAC2C1E8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AC320-410A-4E9E-A4F4-D3E91A91758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454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604841-2B28-8977-C6E0-5611AAFE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FCBD-EA33-9912-0E75-802510148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93359-EF6B-FDC9-4FA8-33BB5026B0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00495B-2CBC-4F2F-9C0C-85A8A768FDE5}" type="datetimeFigureOut">
              <a:rPr lang="en-US" smtClean="0"/>
              <a:t>29-Nov-25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55F0B-766F-4C3E-F592-90FFD4C8C8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FD1AF-FB0C-EFE4-CE85-B092CDFE8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0AC320-410A-4E9E-A4F4-D3E91A91758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725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9458DC44-B8BF-10FB-89FC-41E8B36F2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>
            <a:extLst>
              <a:ext uri="{FF2B5EF4-FFF2-40B4-BE49-F238E27FC236}">
                <a16:creationId xmlns:a16="http://schemas.microsoft.com/office/drawing/2014/main" id="{3B77FD5B-E69C-E1B0-A13F-7575BD9B5080}"/>
              </a:ext>
            </a:extLst>
          </p:cNvPr>
          <p:cNvSpPr/>
          <p:nvPr/>
        </p:nvSpPr>
        <p:spPr>
          <a:xfrm>
            <a:off x="0" y="0"/>
            <a:ext cx="4352400" cy="6858000"/>
          </a:xfrm>
          <a:prstGeom prst="rect">
            <a:avLst/>
          </a:prstGeom>
          <a:solidFill>
            <a:srgbClr val="EC1F2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cxnSp>
        <p:nvCxnSpPr>
          <p:cNvPr id="105" name="Google Shape;105;p19">
            <a:extLst>
              <a:ext uri="{FF2B5EF4-FFF2-40B4-BE49-F238E27FC236}">
                <a16:creationId xmlns:a16="http://schemas.microsoft.com/office/drawing/2014/main" id="{E89C1E06-C88A-9990-8221-768E1AADE208}"/>
              </a:ext>
            </a:extLst>
          </p:cNvPr>
          <p:cNvCxnSpPr/>
          <p:nvPr/>
        </p:nvCxnSpPr>
        <p:spPr>
          <a:xfrm>
            <a:off x="4343400" y="-25400"/>
            <a:ext cx="0" cy="6908800"/>
          </a:xfrm>
          <a:prstGeom prst="straightConnector1">
            <a:avLst/>
          </a:prstGeom>
          <a:noFill/>
          <a:ln w="76200" cap="flat" cmpd="sng">
            <a:solidFill>
              <a:srgbClr val="FBD2D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6" name="Google Shape;106;p19">
            <a:extLst>
              <a:ext uri="{FF2B5EF4-FFF2-40B4-BE49-F238E27FC236}">
                <a16:creationId xmlns:a16="http://schemas.microsoft.com/office/drawing/2014/main" id="{5399AF69-AD35-896B-4F03-AF832274615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679700" y="1297567"/>
            <a:ext cx="7096504" cy="273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" sz="8000" b="1" dirty="0">
                <a:solidFill>
                  <a:srgbClr val="231F20"/>
                </a:solidFill>
                <a:latin typeface="Roboto Slab" pitchFamily="2" charset="0"/>
                <a:ea typeface="Roboto Slab" pitchFamily="2" charset="0"/>
                <a:cs typeface="Roboto Slab" pitchFamily="2" charset="0"/>
                <a:sym typeface="Helvetica Neue"/>
              </a:rPr>
              <a:t>Let’s find a Data Scientist</a:t>
            </a:r>
            <a:endParaRPr sz="8000" b="1" dirty="0">
              <a:solidFill>
                <a:srgbClr val="231F20"/>
              </a:solidFill>
              <a:latin typeface="Roboto Slab" pitchFamily="2" charset="0"/>
              <a:ea typeface="Roboto Slab" pitchFamily="2" charset="0"/>
              <a:cs typeface="Roboto Slab" pitchFamily="2" charset="0"/>
              <a:sym typeface="Helvetica Neue"/>
            </a:endParaRPr>
          </a:p>
        </p:txBody>
      </p:sp>
      <p:sp>
        <p:nvSpPr>
          <p:cNvPr id="107" name="Google Shape;107;p19">
            <a:extLst>
              <a:ext uri="{FF2B5EF4-FFF2-40B4-BE49-F238E27FC236}">
                <a16:creationId xmlns:a16="http://schemas.microsoft.com/office/drawing/2014/main" id="{05D08C8D-54DC-0B48-8C5B-4C9C42470E5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754088" y="4083633"/>
            <a:ext cx="6942900" cy="105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" sz="3200" dirty="0">
                <a:solidFill>
                  <a:srgbClr val="231F2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Or: Salary offerings to build a team dedicated to understanding the analytical needs for developing &amp; promoting our products</a:t>
            </a:r>
            <a:endParaRPr sz="3200" dirty="0">
              <a:solidFill>
                <a:srgbClr val="231F2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08" name="Google Shape;108;p19">
            <a:extLst>
              <a:ext uri="{FF2B5EF4-FFF2-40B4-BE49-F238E27FC236}">
                <a16:creationId xmlns:a16="http://schemas.microsoft.com/office/drawing/2014/main" id="{6B18F82E-1144-ACCC-E9AB-1863D3DC750B}"/>
              </a:ext>
            </a:extLst>
          </p:cNvPr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178"/>
          <a:stretch>
            <a:fillRect/>
          </a:stretch>
        </p:blipFill>
        <p:spPr>
          <a:xfrm>
            <a:off x="327300" y="1258331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>
            <a:extLst>
              <a:ext uri="{FF2B5EF4-FFF2-40B4-BE49-F238E27FC236}">
                <a16:creationId xmlns:a16="http://schemas.microsoft.com/office/drawing/2014/main" id="{19E0110A-B8A5-C3E6-2EB7-95B2AE4791E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8305" y="4827600"/>
            <a:ext cx="3820482" cy="105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>
                <a:solidFill>
                  <a:schemeClr val="lt1"/>
                </a:solidFill>
                <a:latin typeface="Roboto Slab" pitchFamily="2" charset="0"/>
                <a:ea typeface="Roboto Slab" pitchFamily="2" charset="0"/>
                <a:cs typeface="Roboto Slab" pitchFamily="2" charset="0"/>
                <a:sym typeface="Roboto Slab"/>
              </a:rPr>
              <a:t>Common Ground Homes</a:t>
            </a:r>
            <a:endParaRPr dirty="0">
              <a:solidFill>
                <a:schemeClr val="lt1"/>
              </a:solidFill>
              <a:latin typeface="Roboto Slab" pitchFamily="2" charset="0"/>
              <a:ea typeface="Roboto Slab" pitchFamily="2" charset="0"/>
              <a:cs typeface="Roboto Slab" pitchFamily="2" charset="0"/>
              <a:sym typeface="Roboto Slab"/>
            </a:endParaRPr>
          </a:p>
          <a:p>
            <a:pPr>
              <a:spcBef>
                <a:spcPts val="0"/>
              </a:spcBef>
            </a:pPr>
            <a:r>
              <a:rPr lang="en-US" sz="1600" i="1" dirty="0">
                <a:solidFill>
                  <a:schemeClr val="lt1"/>
                </a:solidFill>
                <a:latin typeface="Roboto Slab" pitchFamily="2" charset="0"/>
                <a:ea typeface="Roboto Slab" pitchFamily="2" charset="0"/>
                <a:cs typeface="Roboto Slab" pitchFamily="2" charset="0"/>
                <a:sym typeface="Helvetica Neue Light"/>
              </a:rPr>
              <a:t>For: CEO Jane Doe</a:t>
            </a:r>
          </a:p>
          <a:p>
            <a:pPr>
              <a:spcBef>
                <a:spcPts val="0"/>
              </a:spcBef>
            </a:pPr>
            <a:r>
              <a:rPr lang="en-US" sz="1600" i="1" dirty="0">
                <a:solidFill>
                  <a:schemeClr val="lt1"/>
                </a:solidFill>
                <a:latin typeface="Roboto Slab" pitchFamily="2" charset="0"/>
                <a:ea typeface="Roboto Slab" pitchFamily="2" charset="0"/>
                <a:cs typeface="Roboto Slab" pitchFamily="2" charset="0"/>
                <a:sym typeface="Helvetica Neue Light"/>
              </a:rPr>
              <a:t>CFO Team</a:t>
            </a:r>
          </a:p>
          <a:p>
            <a:pPr>
              <a:spcBef>
                <a:spcPts val="0"/>
              </a:spcBef>
            </a:pPr>
            <a:r>
              <a:rPr lang="en-US" sz="1600" i="1" dirty="0">
                <a:solidFill>
                  <a:schemeClr val="lt1"/>
                </a:solidFill>
                <a:latin typeface="Roboto Slab" pitchFamily="2" charset="0"/>
                <a:ea typeface="Roboto Slab" pitchFamily="2" charset="0"/>
                <a:cs typeface="Roboto Slab" pitchFamily="2" charset="0"/>
                <a:sym typeface="Helvetica Neue Light"/>
              </a:rPr>
              <a:t>HR Team</a:t>
            </a:r>
          </a:p>
          <a:p>
            <a:pPr>
              <a:spcBef>
                <a:spcPts val="0"/>
              </a:spcBef>
            </a:pPr>
            <a:r>
              <a:rPr lang="en-US" sz="1600" i="1" dirty="0">
                <a:solidFill>
                  <a:schemeClr val="lt1"/>
                </a:solidFill>
                <a:latin typeface="Roboto Slab" pitchFamily="2" charset="0"/>
                <a:ea typeface="Roboto Slab" pitchFamily="2" charset="0"/>
                <a:cs typeface="Roboto Slab" pitchFamily="2" charset="0"/>
                <a:sym typeface="Helvetica Neue Light"/>
              </a:rPr>
              <a:t>DSE5002 Faculty</a:t>
            </a:r>
          </a:p>
          <a:p>
            <a:pPr>
              <a:spcBef>
                <a:spcPts val="0"/>
              </a:spcBef>
            </a:pPr>
            <a:endParaRPr lang="en-US" sz="1600" i="1" dirty="0">
              <a:solidFill>
                <a:schemeClr val="lt1"/>
              </a:solidFill>
              <a:latin typeface="Roboto Slab" pitchFamily="2" charset="0"/>
              <a:ea typeface="Roboto Slab" pitchFamily="2" charset="0"/>
              <a:cs typeface="Roboto Slab" pitchFamily="2" charset="0"/>
              <a:sym typeface="Helvetica Neue Light"/>
            </a:endParaRPr>
          </a:p>
          <a:p>
            <a:pPr>
              <a:spcBef>
                <a:spcPts val="0"/>
              </a:spcBef>
            </a:pPr>
            <a:r>
              <a:rPr lang="en-US" sz="1600" i="1" dirty="0">
                <a:solidFill>
                  <a:schemeClr val="lt1"/>
                </a:solidFill>
                <a:latin typeface="Roboto Slab" pitchFamily="2" charset="0"/>
                <a:ea typeface="Roboto Slab" pitchFamily="2" charset="0"/>
                <a:cs typeface="Roboto Slab" pitchFamily="2" charset="0"/>
                <a:sym typeface="Helvetica Neue Light"/>
              </a:rPr>
              <a:t>Presented By: Martin Omasta</a:t>
            </a:r>
            <a:endParaRPr sz="1600" i="1" dirty="0">
              <a:solidFill>
                <a:schemeClr val="lt1"/>
              </a:solidFill>
              <a:latin typeface="Roboto Slab" pitchFamily="2" charset="0"/>
              <a:ea typeface="Roboto Slab" pitchFamily="2" charset="0"/>
              <a:cs typeface="Roboto Slab" pitchFamily="2" charset="0"/>
              <a:sym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341229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4881F-29F3-E2BF-1DF5-492C33261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4;p19">
            <a:extLst>
              <a:ext uri="{FF2B5EF4-FFF2-40B4-BE49-F238E27FC236}">
                <a16:creationId xmlns:a16="http://schemas.microsoft.com/office/drawing/2014/main" id="{C407925A-9C84-2CDD-AD94-5DC435CEE0A4}"/>
              </a:ext>
            </a:extLst>
          </p:cNvPr>
          <p:cNvSpPr/>
          <p:nvPr/>
        </p:nvSpPr>
        <p:spPr>
          <a:xfrm>
            <a:off x="0" y="2852871"/>
            <a:ext cx="12188952" cy="4005129"/>
          </a:xfrm>
          <a:prstGeom prst="rect">
            <a:avLst/>
          </a:prstGeom>
          <a:solidFill>
            <a:srgbClr val="EC1F2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A88890-5446-87BF-8BB4-7650027BB49C}"/>
              </a:ext>
            </a:extLst>
          </p:cNvPr>
          <p:cNvSpPr txBox="1"/>
          <p:nvPr/>
        </p:nvSpPr>
        <p:spPr>
          <a:xfrm>
            <a:off x="0" y="0"/>
            <a:ext cx="121920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BLUF</a:t>
            </a:r>
            <a:r>
              <a:rPr lang="en-US" sz="2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: Place a job offer for a </a:t>
            </a:r>
            <a:r>
              <a:rPr lang="en-US" sz="2600" u="sng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Senior level</a:t>
            </a:r>
            <a:r>
              <a:rPr lang="en-US" sz="2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Data Scientist (DS) based in the United States with a </a:t>
            </a:r>
            <a:r>
              <a:rPr lang="en-US" sz="2600" b="1" u="sng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salary range $140,000 to $180,000 ($80k-$120k Non-US)</a:t>
            </a:r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C91C81-CDE1-ABD5-EDA7-019A456EEECF}"/>
              </a:ext>
            </a:extLst>
          </p:cNvPr>
          <p:cNvSpPr txBox="1"/>
          <p:nvPr/>
        </p:nvSpPr>
        <p:spPr>
          <a:xfrm>
            <a:off x="13254" y="1026829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WHY?</a:t>
            </a:r>
            <a:r>
              <a:rPr lang="en-US" sz="2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u="sng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92%</a:t>
            </a:r>
            <a:r>
              <a:rPr lang="en-US" sz="2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of Data Scientists work within the County they reside; ~80% remotely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8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Competitive ranges to attract Intermediate DS who are ready to step up, or Senior DS who would be enticed to change jobs: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B7C0C26-1F97-4E1C-6345-783CD1CAC4CB}"/>
              </a:ext>
            </a:extLst>
          </p:cNvPr>
          <p:cNvGrpSpPr/>
          <p:nvPr/>
        </p:nvGrpSpPr>
        <p:grpSpPr>
          <a:xfrm>
            <a:off x="1967945" y="2887978"/>
            <a:ext cx="8229600" cy="3931920"/>
            <a:chOff x="1808922" y="3283758"/>
            <a:chExt cx="8169965" cy="351123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002E83E-7474-9C84-4925-70975B8939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553" t="14563" r="10643" b="21543"/>
            <a:stretch>
              <a:fillRect/>
            </a:stretch>
          </p:blipFill>
          <p:spPr>
            <a:xfrm>
              <a:off x="1808922" y="3283758"/>
              <a:ext cx="8169965" cy="3511237"/>
            </a:xfrm>
            <a:prstGeom prst="rect">
              <a:avLst/>
            </a:prstGeom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7BF9578-09DD-0543-6EA6-C6CC25604755}"/>
                </a:ext>
              </a:extLst>
            </p:cNvPr>
            <p:cNvCxnSpPr/>
            <p:nvPr/>
          </p:nvCxnSpPr>
          <p:spPr>
            <a:xfrm>
              <a:off x="1849476" y="5391014"/>
              <a:ext cx="809244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7018FCF-DDE1-AA46-1B29-2CBE10732328}"/>
                </a:ext>
              </a:extLst>
            </p:cNvPr>
            <p:cNvSpPr/>
            <p:nvPr/>
          </p:nvSpPr>
          <p:spPr>
            <a:xfrm>
              <a:off x="3465132" y="4372121"/>
              <a:ext cx="6477399" cy="676461"/>
            </a:xfrm>
            <a:prstGeom prst="rect">
              <a:avLst/>
            </a:prstGeom>
            <a:solidFill>
              <a:srgbClr val="7030A0">
                <a:alpha val="2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31952B2-2348-0CDB-5434-80E11FF80D00}"/>
                </a:ext>
              </a:extLst>
            </p:cNvPr>
            <p:cNvSpPr/>
            <p:nvPr/>
          </p:nvSpPr>
          <p:spPr>
            <a:xfrm>
              <a:off x="3488698" y="5741151"/>
              <a:ext cx="6477399" cy="676461"/>
            </a:xfrm>
            <a:prstGeom prst="rect">
              <a:avLst/>
            </a:prstGeom>
            <a:solidFill>
              <a:srgbClr val="7030A0">
                <a:alpha val="2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C7807C1-DBAA-FDC6-C078-9A749617F7FD}"/>
                </a:ext>
              </a:extLst>
            </p:cNvPr>
            <p:cNvCxnSpPr/>
            <p:nvPr/>
          </p:nvCxnSpPr>
          <p:spPr>
            <a:xfrm>
              <a:off x="1852791" y="4032666"/>
              <a:ext cx="809244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Google Shape;105;p19">
            <a:extLst>
              <a:ext uri="{FF2B5EF4-FFF2-40B4-BE49-F238E27FC236}">
                <a16:creationId xmlns:a16="http://schemas.microsoft.com/office/drawing/2014/main" id="{0FB85F18-810A-7EEB-8A84-72EDBD043186}"/>
              </a:ext>
            </a:extLst>
          </p:cNvPr>
          <p:cNvCxnSpPr>
            <a:cxnSpLocks/>
          </p:cNvCxnSpPr>
          <p:nvPr/>
        </p:nvCxnSpPr>
        <p:spPr>
          <a:xfrm rot="5400000">
            <a:off x="6098032" y="-3276337"/>
            <a:ext cx="0" cy="12198096"/>
          </a:xfrm>
          <a:prstGeom prst="straightConnector1">
            <a:avLst/>
          </a:prstGeom>
          <a:noFill/>
          <a:ln w="76200" cap="flat" cmpd="sng">
            <a:solidFill>
              <a:srgbClr val="FBD2D4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801743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4B08F-573E-21F9-0FE9-14DBE38D5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04;p19">
            <a:extLst>
              <a:ext uri="{FF2B5EF4-FFF2-40B4-BE49-F238E27FC236}">
                <a16:creationId xmlns:a16="http://schemas.microsoft.com/office/drawing/2014/main" id="{94BDD0DF-378A-3580-877C-34A61D08768F}"/>
              </a:ext>
            </a:extLst>
          </p:cNvPr>
          <p:cNvSpPr/>
          <p:nvPr/>
        </p:nvSpPr>
        <p:spPr>
          <a:xfrm>
            <a:off x="0" y="2852871"/>
            <a:ext cx="12188952" cy="4005129"/>
          </a:xfrm>
          <a:prstGeom prst="rect">
            <a:avLst/>
          </a:prstGeom>
          <a:solidFill>
            <a:srgbClr val="EC1F2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A1A1EF-9BD1-C55B-F03E-5F38E1720AD5}"/>
              </a:ext>
            </a:extLst>
          </p:cNvPr>
          <p:cNvSpPr txBox="1"/>
          <p:nvPr/>
        </p:nvSpPr>
        <p:spPr>
          <a:xfrm>
            <a:off x="0" y="0"/>
            <a:ext cx="1219200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Amplify: </a:t>
            </a:r>
            <a:r>
              <a:rPr lang="en-US" sz="2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There can be significant financial savings (upwards of 60%) by hiring outside the US</a:t>
            </a:r>
          </a:p>
          <a:p>
            <a:endParaRPr lang="en-US" sz="20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US" sz="2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Given we are US based &amp; want to build an interactive team for our growing company, be prepared to offer up to two additional </a:t>
            </a:r>
            <a:r>
              <a:rPr lang="en-US" sz="2600" u="sng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Intermediate level</a:t>
            </a:r>
            <a:r>
              <a:rPr lang="en-US" sz="2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DS United States based positions with a </a:t>
            </a:r>
            <a:r>
              <a:rPr lang="en-US" sz="2600" b="1" u="sng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salary range $105,000 to $140,000 ($45k-$80k Non-US)</a:t>
            </a:r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26426BF-C8FE-18EE-3DA1-6571CF8280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20889" y="2895604"/>
            <a:ext cx="5924807" cy="3932577"/>
          </a:xfrm>
          <a:prstGeom prst="rect">
            <a:avLst/>
          </a:prstGeom>
        </p:spPr>
      </p:pic>
      <p:cxnSp>
        <p:nvCxnSpPr>
          <p:cNvPr id="6" name="Google Shape;105;p19">
            <a:extLst>
              <a:ext uri="{FF2B5EF4-FFF2-40B4-BE49-F238E27FC236}">
                <a16:creationId xmlns:a16="http://schemas.microsoft.com/office/drawing/2014/main" id="{CA53BD90-3865-4689-029F-172780F5DC99}"/>
              </a:ext>
            </a:extLst>
          </p:cNvPr>
          <p:cNvCxnSpPr>
            <a:cxnSpLocks/>
          </p:cNvCxnSpPr>
          <p:nvPr/>
        </p:nvCxnSpPr>
        <p:spPr>
          <a:xfrm rot="5400000">
            <a:off x="6098032" y="-3276337"/>
            <a:ext cx="0" cy="12198096"/>
          </a:xfrm>
          <a:prstGeom prst="straightConnector1">
            <a:avLst/>
          </a:prstGeom>
          <a:noFill/>
          <a:ln w="76200" cap="flat" cmpd="sng">
            <a:solidFill>
              <a:srgbClr val="FBD2D4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383514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6E401-3610-4ECE-21DA-A5AD7D4D7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04;p19">
            <a:extLst>
              <a:ext uri="{FF2B5EF4-FFF2-40B4-BE49-F238E27FC236}">
                <a16:creationId xmlns:a16="http://schemas.microsoft.com/office/drawing/2014/main" id="{80205AB2-2B20-A604-6D47-5B34BE9C4378}"/>
              </a:ext>
            </a:extLst>
          </p:cNvPr>
          <p:cNvSpPr/>
          <p:nvPr/>
        </p:nvSpPr>
        <p:spPr>
          <a:xfrm>
            <a:off x="2696595" y="7678871"/>
            <a:ext cx="12188952" cy="4005129"/>
          </a:xfrm>
          <a:prstGeom prst="rect">
            <a:avLst/>
          </a:prstGeom>
          <a:solidFill>
            <a:srgbClr val="EC1F2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cxnSp>
        <p:nvCxnSpPr>
          <p:cNvPr id="12" name="Google Shape;105;p19">
            <a:extLst>
              <a:ext uri="{FF2B5EF4-FFF2-40B4-BE49-F238E27FC236}">
                <a16:creationId xmlns:a16="http://schemas.microsoft.com/office/drawing/2014/main" id="{F47B65AE-1783-3DBF-056C-07E63288D66C}"/>
              </a:ext>
            </a:extLst>
          </p:cNvPr>
          <p:cNvCxnSpPr>
            <a:cxnSpLocks/>
          </p:cNvCxnSpPr>
          <p:nvPr/>
        </p:nvCxnSpPr>
        <p:spPr>
          <a:xfrm rot="5400000">
            <a:off x="6098032" y="2372623"/>
            <a:ext cx="0" cy="12198096"/>
          </a:xfrm>
          <a:prstGeom prst="straightConnector1">
            <a:avLst/>
          </a:prstGeom>
          <a:noFill/>
          <a:ln w="76200" cap="flat" cmpd="sng">
            <a:solidFill>
              <a:srgbClr val="FBD2D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104;p19">
            <a:extLst>
              <a:ext uri="{FF2B5EF4-FFF2-40B4-BE49-F238E27FC236}">
                <a16:creationId xmlns:a16="http://schemas.microsoft.com/office/drawing/2014/main" id="{8897FE58-5510-3743-15FA-F3995A838C73}"/>
              </a:ext>
            </a:extLst>
          </p:cNvPr>
          <p:cNvSpPr/>
          <p:nvPr/>
        </p:nvSpPr>
        <p:spPr>
          <a:xfrm>
            <a:off x="0" y="492443"/>
            <a:ext cx="5953539" cy="6365557"/>
          </a:xfrm>
          <a:prstGeom prst="rect">
            <a:avLst/>
          </a:prstGeom>
          <a:solidFill>
            <a:srgbClr val="EC1F2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EE07FA-F0EB-7D83-C2C4-37563A025C7C}"/>
              </a:ext>
            </a:extLst>
          </p:cNvPr>
          <p:cNvSpPr txBox="1"/>
          <p:nvPr/>
        </p:nvSpPr>
        <p:spPr>
          <a:xfrm>
            <a:off x="0" y="0"/>
            <a:ext cx="12192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Team, the decision is up to you. Here are some Courses of Action (COA):</a:t>
            </a:r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cxnSp>
        <p:nvCxnSpPr>
          <p:cNvPr id="2" name="Google Shape;105;p19">
            <a:extLst>
              <a:ext uri="{FF2B5EF4-FFF2-40B4-BE49-F238E27FC236}">
                <a16:creationId xmlns:a16="http://schemas.microsoft.com/office/drawing/2014/main" id="{E33109FA-6819-5605-244A-C12EB334F2A8}"/>
              </a:ext>
            </a:extLst>
          </p:cNvPr>
          <p:cNvCxnSpPr>
            <a:cxnSpLocks/>
          </p:cNvCxnSpPr>
          <p:nvPr/>
        </p:nvCxnSpPr>
        <p:spPr>
          <a:xfrm flipH="1">
            <a:off x="6092467" y="492443"/>
            <a:ext cx="3312" cy="6364224"/>
          </a:xfrm>
          <a:prstGeom prst="straightConnector1">
            <a:avLst/>
          </a:prstGeom>
          <a:noFill/>
          <a:ln w="215900" cap="flat" cmpd="sng">
            <a:solidFill>
              <a:srgbClr val="FBD2D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Google Shape;104;p19">
            <a:extLst>
              <a:ext uri="{FF2B5EF4-FFF2-40B4-BE49-F238E27FC236}">
                <a16:creationId xmlns:a16="http://schemas.microsoft.com/office/drawing/2014/main" id="{52ABBEDA-916A-623D-6D9D-AE7720E2BF79}"/>
              </a:ext>
            </a:extLst>
          </p:cNvPr>
          <p:cNvSpPr/>
          <p:nvPr/>
        </p:nvSpPr>
        <p:spPr>
          <a:xfrm>
            <a:off x="6235133" y="495758"/>
            <a:ext cx="5953539" cy="6365557"/>
          </a:xfrm>
          <a:prstGeom prst="rect">
            <a:avLst/>
          </a:prstGeom>
          <a:solidFill>
            <a:srgbClr val="EC1F2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FF2A7E-A1DC-26D8-1B16-60A132B97A28}"/>
              </a:ext>
            </a:extLst>
          </p:cNvPr>
          <p:cNvSpPr txBox="1"/>
          <p:nvPr/>
        </p:nvSpPr>
        <p:spPr>
          <a:xfrm>
            <a:off x="8607272" y="493073"/>
            <a:ext cx="12092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COA 1:</a:t>
            </a:r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7EB0B3-8023-D7D4-3F0E-6E79E0A67CF1}"/>
              </a:ext>
            </a:extLst>
          </p:cNvPr>
          <p:cNvSpPr txBox="1"/>
          <p:nvPr/>
        </p:nvSpPr>
        <p:spPr>
          <a:xfrm>
            <a:off x="8653654" y="3574115"/>
            <a:ext cx="127552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COA 2:</a:t>
            </a:r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cxnSp>
        <p:nvCxnSpPr>
          <p:cNvPr id="9" name="Google Shape;105;p19">
            <a:extLst>
              <a:ext uri="{FF2B5EF4-FFF2-40B4-BE49-F238E27FC236}">
                <a16:creationId xmlns:a16="http://schemas.microsoft.com/office/drawing/2014/main" id="{22CF03E4-CFAE-B70C-A42D-132BD076A4A8}"/>
              </a:ext>
            </a:extLst>
          </p:cNvPr>
          <p:cNvCxnSpPr>
            <a:cxnSpLocks/>
          </p:cNvCxnSpPr>
          <p:nvPr/>
        </p:nvCxnSpPr>
        <p:spPr>
          <a:xfrm rot="5400000">
            <a:off x="6098032" y="-5592817"/>
            <a:ext cx="0" cy="12198096"/>
          </a:xfrm>
          <a:prstGeom prst="straightConnector1">
            <a:avLst/>
          </a:prstGeom>
          <a:noFill/>
          <a:ln w="76200" cap="flat" cmpd="sng">
            <a:solidFill>
              <a:srgbClr val="FBD2D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B4EE3F4-4CC5-3CD3-B2C4-8838DAA3269B}"/>
              </a:ext>
            </a:extLst>
          </p:cNvPr>
          <p:cNvSpPr txBox="1"/>
          <p:nvPr/>
        </p:nvSpPr>
        <p:spPr>
          <a:xfrm>
            <a:off x="6203513" y="4000341"/>
            <a:ext cx="599356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Non-US salaries</a:t>
            </a:r>
            <a:r>
              <a:rPr lang="en-US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: Team of 3/annually: </a:t>
            </a:r>
            <a:r>
              <a:rPr lang="en-US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$269,000 </a:t>
            </a:r>
          </a:p>
          <a:p>
            <a:r>
              <a:rPr lang="en-US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(1 Senior + 2 Intermediate)</a:t>
            </a:r>
          </a:p>
          <a:p>
            <a:endParaRPr lang="en-US" sz="20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US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Advantages</a:t>
            </a:r>
            <a:r>
              <a:rPr lang="en-US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: Larger Talent Pool, Salary Savings, Outside Perspectives, </a:t>
            </a:r>
            <a:r>
              <a:rPr lang="en-US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C-Suite</a:t>
            </a:r>
            <a:r>
              <a:rPr lang="en-US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C(I/T)O cost about the same as US Senior Level DS</a:t>
            </a:r>
          </a:p>
          <a:p>
            <a:endParaRPr lang="en-US" sz="20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US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Disadvantages</a:t>
            </a:r>
            <a:r>
              <a:rPr lang="en-US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: Time Zones, Synchronous Collaboration, Decision Making Flow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36FBD4-772F-3864-DBC9-1F9620732BEF}"/>
              </a:ext>
            </a:extLst>
          </p:cNvPr>
          <p:cNvSpPr txBox="1"/>
          <p:nvPr/>
        </p:nvSpPr>
        <p:spPr>
          <a:xfrm>
            <a:off x="6226725" y="875690"/>
            <a:ext cx="592307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US salaries</a:t>
            </a:r>
            <a:r>
              <a:rPr lang="en-US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: Team of 3/annually: </a:t>
            </a:r>
            <a:r>
              <a:rPr lang="en-US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$460,000 </a:t>
            </a:r>
          </a:p>
          <a:p>
            <a:r>
              <a:rPr lang="en-US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(1 Senior + 2 Intermediate)</a:t>
            </a:r>
          </a:p>
          <a:p>
            <a:endParaRPr lang="en-US" sz="20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US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Advantages</a:t>
            </a:r>
            <a:r>
              <a:rPr lang="en-US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: Cohesion, Lower Operational Friction, US Based Clients, Payroll Compliance, COA 3 – Mix w/Non-US for global balance</a:t>
            </a:r>
          </a:p>
          <a:p>
            <a:endParaRPr lang="en-US" sz="20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US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Disadvantages</a:t>
            </a:r>
            <a:r>
              <a:rPr lang="en-US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: Talent Scarcity, Wage Inflation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188D88D-C603-5A6E-8714-C99424DE863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44" y="2852928"/>
            <a:ext cx="5877499" cy="396849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3128874-0C08-A8EF-AA61-064DB6115F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3" y="597103"/>
            <a:ext cx="5897579" cy="167724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120B726-9403-0A89-3730-2EEB3296D6DB}"/>
              </a:ext>
            </a:extLst>
          </p:cNvPr>
          <p:cNvSpPr txBox="1"/>
          <p:nvPr/>
        </p:nvSpPr>
        <p:spPr>
          <a:xfrm>
            <a:off x="1282147" y="4099662"/>
            <a:ext cx="203752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Save ~$60k</a:t>
            </a:r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C6BFAE-6304-9673-D3AF-A4C420A93397}"/>
              </a:ext>
            </a:extLst>
          </p:cNvPr>
          <p:cNvSpPr txBox="1"/>
          <p:nvPr/>
        </p:nvSpPr>
        <p:spPr>
          <a:xfrm>
            <a:off x="3688911" y="3274385"/>
            <a:ext cx="203752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Save ~$70k</a:t>
            </a:r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cxnSp>
        <p:nvCxnSpPr>
          <p:cNvPr id="16" name="Google Shape;105;p19">
            <a:extLst>
              <a:ext uri="{FF2B5EF4-FFF2-40B4-BE49-F238E27FC236}">
                <a16:creationId xmlns:a16="http://schemas.microsoft.com/office/drawing/2014/main" id="{71A83BAE-A7DA-4C6C-A4B2-2CF63E4FAFDB}"/>
              </a:ext>
            </a:extLst>
          </p:cNvPr>
          <p:cNvCxnSpPr>
            <a:cxnSpLocks/>
          </p:cNvCxnSpPr>
          <p:nvPr/>
        </p:nvCxnSpPr>
        <p:spPr>
          <a:xfrm flipH="1">
            <a:off x="6236206" y="3560753"/>
            <a:ext cx="5952744" cy="0"/>
          </a:xfrm>
          <a:prstGeom prst="straightConnector1">
            <a:avLst/>
          </a:prstGeom>
          <a:noFill/>
          <a:ln w="76200" cap="flat" cmpd="sng">
            <a:solidFill>
              <a:srgbClr val="FBD2D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AEB0871-FEC1-8335-B1D5-4A27A7B8CE45}"/>
              </a:ext>
            </a:extLst>
          </p:cNvPr>
          <p:cNvSpPr txBox="1"/>
          <p:nvPr/>
        </p:nvSpPr>
        <p:spPr>
          <a:xfrm>
            <a:off x="1076960" y="2332033"/>
            <a:ext cx="41148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Non-US Data Scientists</a:t>
            </a:r>
          </a:p>
        </p:txBody>
      </p:sp>
    </p:spTree>
    <p:extLst>
      <p:ext uri="{BB962C8B-B14F-4D97-AF65-F5344CB8AC3E}">
        <p14:creationId xmlns:p14="http://schemas.microsoft.com/office/powerpoint/2010/main" val="2706713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DFEBF-3714-A705-11E9-8A60243C0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WORK SLIDES</a:t>
            </a:r>
          </a:p>
        </p:txBody>
      </p:sp>
    </p:spTree>
    <p:extLst>
      <p:ext uri="{BB962C8B-B14F-4D97-AF65-F5344CB8AC3E}">
        <p14:creationId xmlns:p14="http://schemas.microsoft.com/office/powerpoint/2010/main" val="3026882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FA64916-F9E6-9AD6-60BC-2A86F1DCA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04;p19">
            <a:extLst>
              <a:ext uri="{FF2B5EF4-FFF2-40B4-BE49-F238E27FC236}">
                <a16:creationId xmlns:a16="http://schemas.microsoft.com/office/drawing/2014/main" id="{839338F0-B85C-F69E-C8A2-783B0DD46197}"/>
              </a:ext>
            </a:extLst>
          </p:cNvPr>
          <p:cNvSpPr/>
          <p:nvPr/>
        </p:nvSpPr>
        <p:spPr>
          <a:xfrm>
            <a:off x="2696595" y="7678871"/>
            <a:ext cx="12188952" cy="4005129"/>
          </a:xfrm>
          <a:prstGeom prst="rect">
            <a:avLst/>
          </a:prstGeom>
          <a:solidFill>
            <a:srgbClr val="EC1F2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cxnSp>
        <p:nvCxnSpPr>
          <p:cNvPr id="12" name="Google Shape;105;p19">
            <a:extLst>
              <a:ext uri="{FF2B5EF4-FFF2-40B4-BE49-F238E27FC236}">
                <a16:creationId xmlns:a16="http://schemas.microsoft.com/office/drawing/2014/main" id="{8A33A297-EEB0-7BDD-0D62-94EB9514F720}"/>
              </a:ext>
            </a:extLst>
          </p:cNvPr>
          <p:cNvCxnSpPr>
            <a:cxnSpLocks/>
          </p:cNvCxnSpPr>
          <p:nvPr/>
        </p:nvCxnSpPr>
        <p:spPr>
          <a:xfrm rot="5400000">
            <a:off x="6098032" y="2372623"/>
            <a:ext cx="0" cy="12198096"/>
          </a:xfrm>
          <a:prstGeom prst="straightConnector1">
            <a:avLst/>
          </a:prstGeom>
          <a:noFill/>
          <a:ln w="76200" cap="flat" cmpd="sng">
            <a:solidFill>
              <a:srgbClr val="FBD2D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104;p19">
            <a:extLst>
              <a:ext uri="{FF2B5EF4-FFF2-40B4-BE49-F238E27FC236}">
                <a16:creationId xmlns:a16="http://schemas.microsoft.com/office/drawing/2014/main" id="{D297151D-5E51-CB02-43BC-39BA0940D368}"/>
              </a:ext>
            </a:extLst>
          </p:cNvPr>
          <p:cNvSpPr/>
          <p:nvPr/>
        </p:nvSpPr>
        <p:spPr>
          <a:xfrm>
            <a:off x="0" y="492443"/>
            <a:ext cx="5953539" cy="6365557"/>
          </a:xfrm>
          <a:prstGeom prst="rect">
            <a:avLst/>
          </a:prstGeom>
          <a:solidFill>
            <a:srgbClr val="EC1F2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51D3AB-C313-3FEB-DFF6-97704DDFA7AB}"/>
              </a:ext>
            </a:extLst>
          </p:cNvPr>
          <p:cNvSpPr txBox="1"/>
          <p:nvPr/>
        </p:nvSpPr>
        <p:spPr>
          <a:xfrm>
            <a:off x="0" y="0"/>
            <a:ext cx="12192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Team, the decision is up to you. Here are some Courses of Action (COA):</a:t>
            </a:r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cxnSp>
        <p:nvCxnSpPr>
          <p:cNvPr id="2" name="Google Shape;105;p19">
            <a:extLst>
              <a:ext uri="{FF2B5EF4-FFF2-40B4-BE49-F238E27FC236}">
                <a16:creationId xmlns:a16="http://schemas.microsoft.com/office/drawing/2014/main" id="{092D05B1-5760-7155-38B1-72CFA800E8DF}"/>
              </a:ext>
            </a:extLst>
          </p:cNvPr>
          <p:cNvCxnSpPr>
            <a:cxnSpLocks/>
          </p:cNvCxnSpPr>
          <p:nvPr/>
        </p:nvCxnSpPr>
        <p:spPr>
          <a:xfrm flipH="1">
            <a:off x="6082528" y="492443"/>
            <a:ext cx="3312" cy="6364224"/>
          </a:xfrm>
          <a:prstGeom prst="straightConnector1">
            <a:avLst/>
          </a:prstGeom>
          <a:noFill/>
          <a:ln w="215900" cap="flat" cmpd="sng">
            <a:solidFill>
              <a:srgbClr val="FBD2D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Google Shape;104;p19">
            <a:extLst>
              <a:ext uri="{FF2B5EF4-FFF2-40B4-BE49-F238E27FC236}">
                <a16:creationId xmlns:a16="http://schemas.microsoft.com/office/drawing/2014/main" id="{AFFC532A-67E2-7F6A-1333-8555EA6C7813}"/>
              </a:ext>
            </a:extLst>
          </p:cNvPr>
          <p:cNvSpPr/>
          <p:nvPr/>
        </p:nvSpPr>
        <p:spPr>
          <a:xfrm>
            <a:off x="6235133" y="495758"/>
            <a:ext cx="5953539" cy="6365557"/>
          </a:xfrm>
          <a:prstGeom prst="rect">
            <a:avLst/>
          </a:prstGeom>
          <a:solidFill>
            <a:srgbClr val="EC1F2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419B1D-21F7-EDE5-0693-F6A097E256DA}"/>
              </a:ext>
            </a:extLst>
          </p:cNvPr>
          <p:cNvSpPr txBox="1"/>
          <p:nvPr/>
        </p:nvSpPr>
        <p:spPr>
          <a:xfrm>
            <a:off x="8607272" y="493073"/>
            <a:ext cx="12092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COA 1:</a:t>
            </a:r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056375-4023-0CD1-D7B6-6C930F538797}"/>
              </a:ext>
            </a:extLst>
          </p:cNvPr>
          <p:cNvSpPr txBox="1"/>
          <p:nvPr/>
        </p:nvSpPr>
        <p:spPr>
          <a:xfrm>
            <a:off x="8653654" y="3574115"/>
            <a:ext cx="127552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COA 2:</a:t>
            </a:r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cxnSp>
        <p:nvCxnSpPr>
          <p:cNvPr id="9" name="Google Shape;105;p19">
            <a:extLst>
              <a:ext uri="{FF2B5EF4-FFF2-40B4-BE49-F238E27FC236}">
                <a16:creationId xmlns:a16="http://schemas.microsoft.com/office/drawing/2014/main" id="{DE7EE753-42B3-C433-801B-4BB11622D504}"/>
              </a:ext>
            </a:extLst>
          </p:cNvPr>
          <p:cNvCxnSpPr>
            <a:cxnSpLocks/>
          </p:cNvCxnSpPr>
          <p:nvPr/>
        </p:nvCxnSpPr>
        <p:spPr>
          <a:xfrm rot="5400000">
            <a:off x="6098032" y="-5592817"/>
            <a:ext cx="0" cy="12198096"/>
          </a:xfrm>
          <a:prstGeom prst="straightConnector1">
            <a:avLst/>
          </a:prstGeom>
          <a:noFill/>
          <a:ln w="76200" cap="flat" cmpd="sng">
            <a:solidFill>
              <a:srgbClr val="FBD2D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6D1D83D-E568-3125-0D8E-6C7A421EAA55}"/>
              </a:ext>
            </a:extLst>
          </p:cNvPr>
          <p:cNvSpPr txBox="1"/>
          <p:nvPr/>
        </p:nvSpPr>
        <p:spPr>
          <a:xfrm>
            <a:off x="6203513" y="4000341"/>
            <a:ext cx="599356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Non-US salaries</a:t>
            </a:r>
            <a:r>
              <a:rPr lang="en-US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: Team of 3/annually: </a:t>
            </a:r>
            <a:r>
              <a:rPr lang="en-US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$269,000 </a:t>
            </a:r>
          </a:p>
          <a:p>
            <a:r>
              <a:rPr lang="en-US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(1 Senior + 2 Intermediate)</a:t>
            </a:r>
          </a:p>
          <a:p>
            <a:endParaRPr lang="en-US" sz="20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US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Advantages</a:t>
            </a:r>
            <a:r>
              <a:rPr lang="en-US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: Larger Talent Pool, Salary Savings, Outside Perspectives, </a:t>
            </a:r>
            <a:r>
              <a:rPr lang="en-US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C-Suite</a:t>
            </a:r>
            <a:r>
              <a:rPr lang="en-US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C(I/T)O cost about the same as US Senior Level DS</a:t>
            </a:r>
          </a:p>
          <a:p>
            <a:endParaRPr lang="en-US" sz="20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US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Disadvantages</a:t>
            </a:r>
            <a:r>
              <a:rPr lang="en-US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: Time Zones, Synchronous Collaboration, Decision Making Flow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5EF6A9-5869-C4C5-7E8E-BD7ECC561B4B}"/>
              </a:ext>
            </a:extLst>
          </p:cNvPr>
          <p:cNvSpPr txBox="1"/>
          <p:nvPr/>
        </p:nvSpPr>
        <p:spPr>
          <a:xfrm>
            <a:off x="6226725" y="875690"/>
            <a:ext cx="592307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US salaries</a:t>
            </a:r>
            <a:r>
              <a:rPr lang="en-US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: Team of 3/annually: </a:t>
            </a:r>
            <a:r>
              <a:rPr lang="en-US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$460,000 </a:t>
            </a:r>
          </a:p>
          <a:p>
            <a:r>
              <a:rPr lang="en-US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(1 Senior + 2 Intermediate)</a:t>
            </a:r>
          </a:p>
          <a:p>
            <a:endParaRPr lang="en-US" sz="20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US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Advantages</a:t>
            </a:r>
            <a:r>
              <a:rPr lang="en-US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: Cohesion, Lower Operational Friction, US Based Clients, Payroll Compliance, COA 3 – Mix w/Non-US for global balance</a:t>
            </a:r>
          </a:p>
          <a:p>
            <a:endParaRPr lang="en-US" sz="20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US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Disadvantages</a:t>
            </a:r>
            <a:r>
              <a:rPr lang="en-US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: Talent Scarcity, Wage Inflation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B2680CD-B0C8-0237-3B97-E9A9E98D24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44" y="2849556"/>
            <a:ext cx="5881739" cy="397005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723171D-4541-275B-3485-9665C11067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3" y="597103"/>
            <a:ext cx="5897579" cy="167724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8A219F5-FC9E-B151-458F-5E50050A579F}"/>
              </a:ext>
            </a:extLst>
          </p:cNvPr>
          <p:cNvSpPr txBox="1"/>
          <p:nvPr/>
        </p:nvSpPr>
        <p:spPr>
          <a:xfrm>
            <a:off x="1282147" y="4099662"/>
            <a:ext cx="203752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Save ~$60k</a:t>
            </a:r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8F4ACA-16BB-0864-6224-C84FAE560B3E}"/>
              </a:ext>
            </a:extLst>
          </p:cNvPr>
          <p:cNvSpPr txBox="1"/>
          <p:nvPr/>
        </p:nvSpPr>
        <p:spPr>
          <a:xfrm>
            <a:off x="3688911" y="3274385"/>
            <a:ext cx="203752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Save ~$70k</a:t>
            </a:r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cxnSp>
        <p:nvCxnSpPr>
          <p:cNvPr id="16" name="Google Shape;105;p19">
            <a:extLst>
              <a:ext uri="{FF2B5EF4-FFF2-40B4-BE49-F238E27FC236}">
                <a16:creationId xmlns:a16="http://schemas.microsoft.com/office/drawing/2014/main" id="{9DAE9C7E-1BA4-1D5D-104B-EDB2E3F2441A}"/>
              </a:ext>
            </a:extLst>
          </p:cNvPr>
          <p:cNvCxnSpPr>
            <a:cxnSpLocks/>
          </p:cNvCxnSpPr>
          <p:nvPr/>
        </p:nvCxnSpPr>
        <p:spPr>
          <a:xfrm flipH="1">
            <a:off x="6236206" y="3560753"/>
            <a:ext cx="5952744" cy="0"/>
          </a:xfrm>
          <a:prstGeom prst="straightConnector1">
            <a:avLst/>
          </a:prstGeom>
          <a:noFill/>
          <a:ln w="76200" cap="flat" cmpd="sng">
            <a:solidFill>
              <a:srgbClr val="FBD2D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0AFEE9A-FE4F-DC79-5BCC-C04C9709F956}"/>
              </a:ext>
            </a:extLst>
          </p:cNvPr>
          <p:cNvSpPr txBox="1"/>
          <p:nvPr/>
        </p:nvSpPr>
        <p:spPr>
          <a:xfrm>
            <a:off x="1076960" y="2332033"/>
            <a:ext cx="41148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Non-US Data Scientists</a:t>
            </a:r>
          </a:p>
        </p:txBody>
      </p:sp>
    </p:spTree>
    <p:extLst>
      <p:ext uri="{BB962C8B-B14F-4D97-AF65-F5344CB8AC3E}">
        <p14:creationId xmlns:p14="http://schemas.microsoft.com/office/powerpoint/2010/main" val="2170477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926A8D0-3AF1-9A30-D940-CFA35ADF0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04;p19">
            <a:extLst>
              <a:ext uri="{FF2B5EF4-FFF2-40B4-BE49-F238E27FC236}">
                <a16:creationId xmlns:a16="http://schemas.microsoft.com/office/drawing/2014/main" id="{871D0DA8-137E-A0B5-F90D-574DD66420B6}"/>
              </a:ext>
            </a:extLst>
          </p:cNvPr>
          <p:cNvSpPr/>
          <p:nvPr/>
        </p:nvSpPr>
        <p:spPr>
          <a:xfrm>
            <a:off x="2696595" y="7678871"/>
            <a:ext cx="12188952" cy="4005129"/>
          </a:xfrm>
          <a:prstGeom prst="rect">
            <a:avLst/>
          </a:prstGeom>
          <a:solidFill>
            <a:srgbClr val="EC1F2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cxnSp>
        <p:nvCxnSpPr>
          <p:cNvPr id="12" name="Google Shape;105;p19">
            <a:extLst>
              <a:ext uri="{FF2B5EF4-FFF2-40B4-BE49-F238E27FC236}">
                <a16:creationId xmlns:a16="http://schemas.microsoft.com/office/drawing/2014/main" id="{2FDAC003-B630-AE50-7420-6B60A9F89B90}"/>
              </a:ext>
            </a:extLst>
          </p:cNvPr>
          <p:cNvCxnSpPr>
            <a:cxnSpLocks/>
          </p:cNvCxnSpPr>
          <p:nvPr/>
        </p:nvCxnSpPr>
        <p:spPr>
          <a:xfrm rot="5400000">
            <a:off x="6098032" y="2372623"/>
            <a:ext cx="0" cy="12198096"/>
          </a:xfrm>
          <a:prstGeom prst="straightConnector1">
            <a:avLst/>
          </a:prstGeom>
          <a:noFill/>
          <a:ln w="76200" cap="flat" cmpd="sng">
            <a:solidFill>
              <a:srgbClr val="FBD2D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104;p19">
            <a:extLst>
              <a:ext uri="{FF2B5EF4-FFF2-40B4-BE49-F238E27FC236}">
                <a16:creationId xmlns:a16="http://schemas.microsoft.com/office/drawing/2014/main" id="{C29EF025-3F04-2D35-7B3E-4B13A10DCFCD}"/>
              </a:ext>
            </a:extLst>
          </p:cNvPr>
          <p:cNvSpPr/>
          <p:nvPr/>
        </p:nvSpPr>
        <p:spPr>
          <a:xfrm>
            <a:off x="0" y="492443"/>
            <a:ext cx="5953539" cy="6365557"/>
          </a:xfrm>
          <a:prstGeom prst="rect">
            <a:avLst/>
          </a:prstGeom>
          <a:solidFill>
            <a:srgbClr val="EC1F2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EAE84B-0E0F-9AAC-4103-7D4C110F6886}"/>
              </a:ext>
            </a:extLst>
          </p:cNvPr>
          <p:cNvSpPr txBox="1"/>
          <p:nvPr/>
        </p:nvSpPr>
        <p:spPr>
          <a:xfrm>
            <a:off x="0" y="0"/>
            <a:ext cx="12192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Team, the decision is up to you. Here are some Courses of Action (COA):</a:t>
            </a:r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cxnSp>
        <p:nvCxnSpPr>
          <p:cNvPr id="2" name="Google Shape;105;p19">
            <a:extLst>
              <a:ext uri="{FF2B5EF4-FFF2-40B4-BE49-F238E27FC236}">
                <a16:creationId xmlns:a16="http://schemas.microsoft.com/office/drawing/2014/main" id="{3A43B089-DDF4-10DA-541E-0CF00F175664}"/>
              </a:ext>
            </a:extLst>
          </p:cNvPr>
          <p:cNvCxnSpPr>
            <a:cxnSpLocks/>
          </p:cNvCxnSpPr>
          <p:nvPr/>
        </p:nvCxnSpPr>
        <p:spPr>
          <a:xfrm flipH="1">
            <a:off x="6082528" y="492443"/>
            <a:ext cx="3312" cy="6364224"/>
          </a:xfrm>
          <a:prstGeom prst="straightConnector1">
            <a:avLst/>
          </a:prstGeom>
          <a:noFill/>
          <a:ln w="215900" cap="flat" cmpd="sng">
            <a:solidFill>
              <a:srgbClr val="FBD2D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Google Shape;104;p19">
            <a:extLst>
              <a:ext uri="{FF2B5EF4-FFF2-40B4-BE49-F238E27FC236}">
                <a16:creationId xmlns:a16="http://schemas.microsoft.com/office/drawing/2014/main" id="{FE7D1D50-07C7-941F-D40F-BCED4F3B1E56}"/>
              </a:ext>
            </a:extLst>
          </p:cNvPr>
          <p:cNvSpPr/>
          <p:nvPr/>
        </p:nvSpPr>
        <p:spPr>
          <a:xfrm>
            <a:off x="6235133" y="495758"/>
            <a:ext cx="5953539" cy="6365557"/>
          </a:xfrm>
          <a:prstGeom prst="rect">
            <a:avLst/>
          </a:prstGeom>
          <a:solidFill>
            <a:srgbClr val="EC1F2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8C30C1-8F62-1C8C-23BC-0E26E58326F9}"/>
              </a:ext>
            </a:extLst>
          </p:cNvPr>
          <p:cNvSpPr txBox="1"/>
          <p:nvPr/>
        </p:nvSpPr>
        <p:spPr>
          <a:xfrm>
            <a:off x="8607272" y="493073"/>
            <a:ext cx="12092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COA 1:</a:t>
            </a:r>
            <a:endParaRPr lang="en-US" sz="2600" dirty="0">
              <a:solidFill>
                <a:schemeClr val="bg1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28A708-7DC8-2A10-2913-111FA2C1C4D4}"/>
              </a:ext>
            </a:extLst>
          </p:cNvPr>
          <p:cNvSpPr txBox="1"/>
          <p:nvPr/>
        </p:nvSpPr>
        <p:spPr>
          <a:xfrm>
            <a:off x="8653654" y="3574115"/>
            <a:ext cx="127552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COA 2:</a:t>
            </a:r>
            <a:endParaRPr lang="en-US" sz="2600" dirty="0">
              <a:solidFill>
                <a:schemeClr val="bg1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cxnSp>
        <p:nvCxnSpPr>
          <p:cNvPr id="9" name="Google Shape;105;p19">
            <a:extLst>
              <a:ext uri="{FF2B5EF4-FFF2-40B4-BE49-F238E27FC236}">
                <a16:creationId xmlns:a16="http://schemas.microsoft.com/office/drawing/2014/main" id="{BBA869A3-8483-E692-1220-D3BFB5783F10}"/>
              </a:ext>
            </a:extLst>
          </p:cNvPr>
          <p:cNvCxnSpPr>
            <a:cxnSpLocks/>
          </p:cNvCxnSpPr>
          <p:nvPr/>
        </p:nvCxnSpPr>
        <p:spPr>
          <a:xfrm rot="5400000">
            <a:off x="6098032" y="-5592817"/>
            <a:ext cx="0" cy="12198096"/>
          </a:xfrm>
          <a:prstGeom prst="straightConnector1">
            <a:avLst/>
          </a:prstGeom>
          <a:noFill/>
          <a:ln w="76200" cap="flat" cmpd="sng">
            <a:solidFill>
              <a:srgbClr val="FBD2D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B501499-A5B8-DC0A-C03B-72B67DCA297C}"/>
              </a:ext>
            </a:extLst>
          </p:cNvPr>
          <p:cNvSpPr txBox="1"/>
          <p:nvPr/>
        </p:nvSpPr>
        <p:spPr>
          <a:xfrm>
            <a:off x="6203513" y="4000341"/>
            <a:ext cx="599356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Non-US salaries</a:t>
            </a:r>
            <a:r>
              <a:rPr lang="en-US" sz="20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: Team of 3/annually: </a:t>
            </a:r>
            <a:r>
              <a:rPr lang="en-US" sz="20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$269,000 </a:t>
            </a:r>
          </a:p>
          <a:p>
            <a:r>
              <a:rPr lang="en-US" sz="20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(1 Senior + 2 Intermediate)</a:t>
            </a:r>
          </a:p>
          <a:p>
            <a:endParaRPr lang="en-US" sz="2000" dirty="0">
              <a:solidFill>
                <a:schemeClr val="bg1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Advantages</a:t>
            </a:r>
            <a:r>
              <a:rPr lang="en-US" sz="20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: Larger Talent Pool, Salary Savings, Outside Perspectives, </a:t>
            </a:r>
            <a:r>
              <a:rPr lang="en-US" sz="20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Could Mix with US Based -&gt; for “follow the Sun” global presence COA 3</a:t>
            </a:r>
          </a:p>
          <a:p>
            <a:endParaRPr lang="en-US" sz="2000" dirty="0">
              <a:solidFill>
                <a:schemeClr val="bg1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Disadvantages</a:t>
            </a:r>
            <a:r>
              <a:rPr lang="en-US" sz="20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: Time Zones, Synchronous Collaboration, Decision Making Flow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D182C6-3227-DC3F-1897-31C07D07B67C}"/>
              </a:ext>
            </a:extLst>
          </p:cNvPr>
          <p:cNvSpPr txBox="1"/>
          <p:nvPr/>
        </p:nvSpPr>
        <p:spPr>
          <a:xfrm>
            <a:off x="6226725" y="875690"/>
            <a:ext cx="592307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US salaries</a:t>
            </a:r>
            <a:r>
              <a:rPr lang="en-US" sz="20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: Team of 3/annually: </a:t>
            </a:r>
            <a:r>
              <a:rPr lang="en-US" sz="20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$460,000 </a:t>
            </a:r>
          </a:p>
          <a:p>
            <a:r>
              <a:rPr lang="en-US" sz="20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(1 Senior + 2 Intermediate)</a:t>
            </a:r>
          </a:p>
          <a:p>
            <a:endParaRPr lang="en-US" sz="2000" dirty="0">
              <a:solidFill>
                <a:schemeClr val="bg1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Advantages</a:t>
            </a:r>
            <a:r>
              <a:rPr lang="en-US" sz="20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: Cohesion, Lower Operational Friction, US Based Clients, Payroll Compliance</a:t>
            </a:r>
          </a:p>
          <a:p>
            <a:endParaRPr lang="en-US" sz="2000" dirty="0">
              <a:solidFill>
                <a:schemeClr val="bg1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Disadvantages</a:t>
            </a:r>
            <a:r>
              <a:rPr lang="en-US" sz="20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: Talent Scarcity, Wage Inflation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2FDDD8F-7277-EA65-1855-F3444D2892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83" y="2849556"/>
            <a:ext cx="5826141" cy="397005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AE33477-7DC4-B2B8-51B3-F613E6616A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5" y="597103"/>
            <a:ext cx="5897579" cy="167724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D0A189F-42E1-E544-1225-478C70EA0396}"/>
              </a:ext>
            </a:extLst>
          </p:cNvPr>
          <p:cNvSpPr txBox="1"/>
          <p:nvPr/>
        </p:nvSpPr>
        <p:spPr>
          <a:xfrm>
            <a:off x="1282147" y="4099662"/>
            <a:ext cx="203752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Save ~$60k</a:t>
            </a:r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47A7E9-14C1-6162-D45C-9FC93F561C0D}"/>
              </a:ext>
            </a:extLst>
          </p:cNvPr>
          <p:cNvSpPr txBox="1"/>
          <p:nvPr/>
        </p:nvSpPr>
        <p:spPr>
          <a:xfrm>
            <a:off x="3688911" y="3274385"/>
            <a:ext cx="203752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Save ~$70k</a:t>
            </a:r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cxnSp>
        <p:nvCxnSpPr>
          <p:cNvPr id="16" name="Google Shape;105;p19">
            <a:extLst>
              <a:ext uri="{FF2B5EF4-FFF2-40B4-BE49-F238E27FC236}">
                <a16:creationId xmlns:a16="http://schemas.microsoft.com/office/drawing/2014/main" id="{9C6AB9A9-5670-D1A9-D871-B6556AE5A3D9}"/>
              </a:ext>
            </a:extLst>
          </p:cNvPr>
          <p:cNvCxnSpPr>
            <a:cxnSpLocks/>
          </p:cNvCxnSpPr>
          <p:nvPr/>
        </p:nvCxnSpPr>
        <p:spPr>
          <a:xfrm flipH="1">
            <a:off x="6236206" y="3560753"/>
            <a:ext cx="5952744" cy="0"/>
          </a:xfrm>
          <a:prstGeom prst="straightConnector1">
            <a:avLst/>
          </a:prstGeom>
          <a:noFill/>
          <a:ln w="76200" cap="flat" cmpd="sng">
            <a:solidFill>
              <a:srgbClr val="FBD2D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0920F1C-0051-CB35-FDD3-4E6802047ADC}"/>
              </a:ext>
            </a:extLst>
          </p:cNvPr>
          <p:cNvSpPr txBox="1"/>
          <p:nvPr/>
        </p:nvSpPr>
        <p:spPr>
          <a:xfrm>
            <a:off x="1076960" y="2332033"/>
            <a:ext cx="41148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Non-US Data Scientists</a:t>
            </a:r>
          </a:p>
        </p:txBody>
      </p:sp>
    </p:spTree>
    <p:extLst>
      <p:ext uri="{BB962C8B-B14F-4D97-AF65-F5344CB8AC3E}">
        <p14:creationId xmlns:p14="http://schemas.microsoft.com/office/powerpoint/2010/main" val="1707401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8654E8F-9C01-D9A2-2A49-9653A2352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04;p19">
            <a:extLst>
              <a:ext uri="{FF2B5EF4-FFF2-40B4-BE49-F238E27FC236}">
                <a16:creationId xmlns:a16="http://schemas.microsoft.com/office/drawing/2014/main" id="{B9F97F7C-3323-DDA9-98AB-C2D956BB35F1}"/>
              </a:ext>
            </a:extLst>
          </p:cNvPr>
          <p:cNvSpPr/>
          <p:nvPr/>
        </p:nvSpPr>
        <p:spPr>
          <a:xfrm>
            <a:off x="2696595" y="7678871"/>
            <a:ext cx="12188952" cy="4005129"/>
          </a:xfrm>
          <a:prstGeom prst="rect">
            <a:avLst/>
          </a:prstGeom>
          <a:solidFill>
            <a:srgbClr val="EC1F2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cxnSp>
        <p:nvCxnSpPr>
          <p:cNvPr id="12" name="Google Shape;105;p19">
            <a:extLst>
              <a:ext uri="{FF2B5EF4-FFF2-40B4-BE49-F238E27FC236}">
                <a16:creationId xmlns:a16="http://schemas.microsoft.com/office/drawing/2014/main" id="{CBA22482-B745-660D-8A3B-1C3E4D6CD97F}"/>
              </a:ext>
            </a:extLst>
          </p:cNvPr>
          <p:cNvCxnSpPr>
            <a:cxnSpLocks/>
          </p:cNvCxnSpPr>
          <p:nvPr/>
        </p:nvCxnSpPr>
        <p:spPr>
          <a:xfrm rot="5400000">
            <a:off x="6098032" y="2372623"/>
            <a:ext cx="0" cy="12198096"/>
          </a:xfrm>
          <a:prstGeom prst="straightConnector1">
            <a:avLst/>
          </a:prstGeom>
          <a:noFill/>
          <a:ln w="76200" cap="flat" cmpd="sng">
            <a:solidFill>
              <a:srgbClr val="FBD2D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104;p19">
            <a:extLst>
              <a:ext uri="{FF2B5EF4-FFF2-40B4-BE49-F238E27FC236}">
                <a16:creationId xmlns:a16="http://schemas.microsoft.com/office/drawing/2014/main" id="{CA0A3A43-5B79-792E-D803-B38DF86F72BB}"/>
              </a:ext>
            </a:extLst>
          </p:cNvPr>
          <p:cNvSpPr/>
          <p:nvPr/>
        </p:nvSpPr>
        <p:spPr>
          <a:xfrm>
            <a:off x="0" y="492443"/>
            <a:ext cx="5953539" cy="6365557"/>
          </a:xfrm>
          <a:prstGeom prst="rect">
            <a:avLst/>
          </a:prstGeom>
          <a:solidFill>
            <a:srgbClr val="EC1F2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8D0F7-6C1A-D8DE-5B3E-7197531AC626}"/>
              </a:ext>
            </a:extLst>
          </p:cNvPr>
          <p:cNvSpPr txBox="1"/>
          <p:nvPr/>
        </p:nvSpPr>
        <p:spPr>
          <a:xfrm>
            <a:off x="0" y="0"/>
            <a:ext cx="12192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Team, the decision is up to you. Here are some Courses of Action (COA):</a:t>
            </a:r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cxnSp>
        <p:nvCxnSpPr>
          <p:cNvPr id="2" name="Google Shape;105;p19">
            <a:extLst>
              <a:ext uri="{FF2B5EF4-FFF2-40B4-BE49-F238E27FC236}">
                <a16:creationId xmlns:a16="http://schemas.microsoft.com/office/drawing/2014/main" id="{3EBD5795-2B4F-FD62-44E7-81337BE17E6E}"/>
              </a:ext>
            </a:extLst>
          </p:cNvPr>
          <p:cNvCxnSpPr>
            <a:cxnSpLocks/>
          </p:cNvCxnSpPr>
          <p:nvPr/>
        </p:nvCxnSpPr>
        <p:spPr>
          <a:xfrm flipH="1">
            <a:off x="6082528" y="492443"/>
            <a:ext cx="3312" cy="6364224"/>
          </a:xfrm>
          <a:prstGeom prst="straightConnector1">
            <a:avLst/>
          </a:prstGeom>
          <a:noFill/>
          <a:ln w="215900" cap="flat" cmpd="sng">
            <a:solidFill>
              <a:srgbClr val="FBD2D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Google Shape;104;p19">
            <a:extLst>
              <a:ext uri="{FF2B5EF4-FFF2-40B4-BE49-F238E27FC236}">
                <a16:creationId xmlns:a16="http://schemas.microsoft.com/office/drawing/2014/main" id="{2962B9A6-F635-F057-EC15-8CC5B60B578D}"/>
              </a:ext>
            </a:extLst>
          </p:cNvPr>
          <p:cNvSpPr/>
          <p:nvPr/>
        </p:nvSpPr>
        <p:spPr>
          <a:xfrm>
            <a:off x="6235133" y="495758"/>
            <a:ext cx="5953539" cy="6365557"/>
          </a:xfrm>
          <a:prstGeom prst="rect">
            <a:avLst/>
          </a:prstGeom>
          <a:solidFill>
            <a:srgbClr val="EC1F2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A5F14D-3FCC-6BF6-ADA8-0E89C022AB52}"/>
              </a:ext>
            </a:extLst>
          </p:cNvPr>
          <p:cNvSpPr txBox="1"/>
          <p:nvPr/>
        </p:nvSpPr>
        <p:spPr>
          <a:xfrm>
            <a:off x="8607272" y="493073"/>
            <a:ext cx="12092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COA 1:</a:t>
            </a:r>
            <a:endParaRPr lang="en-US" sz="2600" dirty="0">
              <a:solidFill>
                <a:schemeClr val="bg1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BF25E5-BA2E-E2AD-030B-40394AF9B4A0}"/>
              </a:ext>
            </a:extLst>
          </p:cNvPr>
          <p:cNvSpPr txBox="1"/>
          <p:nvPr/>
        </p:nvSpPr>
        <p:spPr>
          <a:xfrm>
            <a:off x="8653654" y="3574115"/>
            <a:ext cx="127552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COA 2:</a:t>
            </a:r>
            <a:endParaRPr lang="en-US" sz="2600" dirty="0">
              <a:solidFill>
                <a:schemeClr val="bg1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cxnSp>
        <p:nvCxnSpPr>
          <p:cNvPr id="9" name="Google Shape;105;p19">
            <a:extLst>
              <a:ext uri="{FF2B5EF4-FFF2-40B4-BE49-F238E27FC236}">
                <a16:creationId xmlns:a16="http://schemas.microsoft.com/office/drawing/2014/main" id="{B3BD30DC-94DC-B947-9532-A7DCF4AAD4CA}"/>
              </a:ext>
            </a:extLst>
          </p:cNvPr>
          <p:cNvCxnSpPr>
            <a:cxnSpLocks/>
          </p:cNvCxnSpPr>
          <p:nvPr/>
        </p:nvCxnSpPr>
        <p:spPr>
          <a:xfrm rot="5400000">
            <a:off x="6098032" y="-5592817"/>
            <a:ext cx="0" cy="12198096"/>
          </a:xfrm>
          <a:prstGeom prst="straightConnector1">
            <a:avLst/>
          </a:prstGeom>
          <a:noFill/>
          <a:ln w="76200" cap="flat" cmpd="sng">
            <a:solidFill>
              <a:srgbClr val="FBD2D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F761846-869A-8559-9A2F-4882AB1C9550}"/>
              </a:ext>
            </a:extLst>
          </p:cNvPr>
          <p:cNvSpPr txBox="1"/>
          <p:nvPr/>
        </p:nvSpPr>
        <p:spPr>
          <a:xfrm>
            <a:off x="6203513" y="4000341"/>
            <a:ext cx="599356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Non-US salaries</a:t>
            </a:r>
            <a:r>
              <a:rPr lang="en-US" sz="20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: Team of 3/annually: </a:t>
            </a:r>
            <a:r>
              <a:rPr lang="en-US" sz="20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$269,000 </a:t>
            </a:r>
          </a:p>
          <a:p>
            <a:r>
              <a:rPr lang="en-US" sz="20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(1 Senior + 2 Intermediate)</a:t>
            </a:r>
          </a:p>
          <a:p>
            <a:endParaRPr lang="en-US" sz="2000" dirty="0">
              <a:solidFill>
                <a:schemeClr val="bg1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Advantages</a:t>
            </a:r>
            <a:r>
              <a:rPr lang="en-US" sz="20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: Larger Talent Pool, Salary Savings, Outside Perspectives, </a:t>
            </a:r>
            <a:r>
              <a:rPr lang="en-US" sz="20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Could Mix with US Based -&gt; for “follow the Sun” global presence COA 3</a:t>
            </a:r>
          </a:p>
          <a:p>
            <a:endParaRPr lang="en-US" sz="2000" dirty="0">
              <a:solidFill>
                <a:schemeClr val="bg1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Disadvantages</a:t>
            </a:r>
            <a:r>
              <a:rPr lang="en-US" sz="20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: Time Zones, Synchronous Collaboration, Decision Making Flow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560AE3-3015-D244-8E0D-310DBB50CB8A}"/>
              </a:ext>
            </a:extLst>
          </p:cNvPr>
          <p:cNvSpPr txBox="1"/>
          <p:nvPr/>
        </p:nvSpPr>
        <p:spPr>
          <a:xfrm>
            <a:off x="6226725" y="875690"/>
            <a:ext cx="592307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US salaries</a:t>
            </a:r>
            <a:r>
              <a:rPr lang="en-US" sz="20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: Team of 3/annually: </a:t>
            </a:r>
            <a:r>
              <a:rPr lang="en-US" sz="20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$460,000 </a:t>
            </a:r>
          </a:p>
          <a:p>
            <a:r>
              <a:rPr lang="en-US" sz="20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(1 Senior + 2 Intermediate)</a:t>
            </a:r>
          </a:p>
          <a:p>
            <a:endParaRPr lang="en-US" sz="2000" dirty="0">
              <a:solidFill>
                <a:schemeClr val="bg1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Advantages</a:t>
            </a:r>
            <a:r>
              <a:rPr lang="en-US" sz="20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: Cohesion, Lower Operational Friction, US Based Clients, Payroll Compliance</a:t>
            </a:r>
          </a:p>
          <a:p>
            <a:endParaRPr lang="en-US" sz="2000" dirty="0">
              <a:solidFill>
                <a:schemeClr val="bg1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Disadvantages</a:t>
            </a:r>
            <a:r>
              <a:rPr lang="en-US" sz="20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: Talent Scarcity, Wage Inflation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FCD4918-92C9-438E-A196-0342337A51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83" y="2849556"/>
            <a:ext cx="5826141" cy="397005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795AEBE-F290-97FD-BFCE-926D8FEDD7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5" y="597103"/>
            <a:ext cx="5897579" cy="167724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0E7A1A6-8ED8-18A5-7B12-ED697CEDCE15}"/>
              </a:ext>
            </a:extLst>
          </p:cNvPr>
          <p:cNvSpPr txBox="1"/>
          <p:nvPr/>
        </p:nvSpPr>
        <p:spPr>
          <a:xfrm>
            <a:off x="1282147" y="4099662"/>
            <a:ext cx="203752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Save ~$60k</a:t>
            </a:r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B9A845-5FBA-1834-710D-19472A3018B2}"/>
              </a:ext>
            </a:extLst>
          </p:cNvPr>
          <p:cNvSpPr txBox="1"/>
          <p:nvPr/>
        </p:nvSpPr>
        <p:spPr>
          <a:xfrm>
            <a:off x="3688911" y="3274385"/>
            <a:ext cx="203752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Save ~$70k</a:t>
            </a:r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cxnSp>
        <p:nvCxnSpPr>
          <p:cNvPr id="16" name="Google Shape;105;p19">
            <a:extLst>
              <a:ext uri="{FF2B5EF4-FFF2-40B4-BE49-F238E27FC236}">
                <a16:creationId xmlns:a16="http://schemas.microsoft.com/office/drawing/2014/main" id="{A3210E9F-0E4B-5ACA-B98B-57872F32DE1C}"/>
              </a:ext>
            </a:extLst>
          </p:cNvPr>
          <p:cNvCxnSpPr>
            <a:cxnSpLocks/>
          </p:cNvCxnSpPr>
          <p:nvPr/>
        </p:nvCxnSpPr>
        <p:spPr>
          <a:xfrm flipH="1">
            <a:off x="6236206" y="3560753"/>
            <a:ext cx="5952744" cy="0"/>
          </a:xfrm>
          <a:prstGeom prst="straightConnector1">
            <a:avLst/>
          </a:prstGeom>
          <a:noFill/>
          <a:ln w="76200" cap="flat" cmpd="sng">
            <a:solidFill>
              <a:srgbClr val="FBD2D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1BEC2F3-5C26-F978-8925-1243D05C265A}"/>
              </a:ext>
            </a:extLst>
          </p:cNvPr>
          <p:cNvSpPr txBox="1"/>
          <p:nvPr/>
        </p:nvSpPr>
        <p:spPr>
          <a:xfrm>
            <a:off x="1076960" y="2332033"/>
            <a:ext cx="41148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Non-US Data Scientists</a:t>
            </a:r>
          </a:p>
        </p:txBody>
      </p:sp>
    </p:spTree>
    <p:extLst>
      <p:ext uri="{BB962C8B-B14F-4D97-AF65-F5344CB8AC3E}">
        <p14:creationId xmlns:p14="http://schemas.microsoft.com/office/powerpoint/2010/main" val="1875616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B7FB7AB-DE27-F9C6-D3B7-E8895F2D6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04;p19">
            <a:extLst>
              <a:ext uri="{FF2B5EF4-FFF2-40B4-BE49-F238E27FC236}">
                <a16:creationId xmlns:a16="http://schemas.microsoft.com/office/drawing/2014/main" id="{D571ACA6-4CBD-5AD9-B719-C65E4A11F17B}"/>
              </a:ext>
            </a:extLst>
          </p:cNvPr>
          <p:cNvSpPr/>
          <p:nvPr/>
        </p:nvSpPr>
        <p:spPr>
          <a:xfrm>
            <a:off x="2696595" y="7678871"/>
            <a:ext cx="12188952" cy="4005129"/>
          </a:xfrm>
          <a:prstGeom prst="rect">
            <a:avLst/>
          </a:prstGeom>
          <a:solidFill>
            <a:srgbClr val="EC1F2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cxnSp>
        <p:nvCxnSpPr>
          <p:cNvPr id="12" name="Google Shape;105;p19">
            <a:extLst>
              <a:ext uri="{FF2B5EF4-FFF2-40B4-BE49-F238E27FC236}">
                <a16:creationId xmlns:a16="http://schemas.microsoft.com/office/drawing/2014/main" id="{8BA376B6-A85A-977B-F0CB-9DD4C6749C83}"/>
              </a:ext>
            </a:extLst>
          </p:cNvPr>
          <p:cNvCxnSpPr>
            <a:cxnSpLocks/>
          </p:cNvCxnSpPr>
          <p:nvPr/>
        </p:nvCxnSpPr>
        <p:spPr>
          <a:xfrm rot="5400000">
            <a:off x="6098032" y="2372623"/>
            <a:ext cx="0" cy="12198096"/>
          </a:xfrm>
          <a:prstGeom prst="straightConnector1">
            <a:avLst/>
          </a:prstGeom>
          <a:noFill/>
          <a:ln w="76200" cap="flat" cmpd="sng">
            <a:solidFill>
              <a:srgbClr val="FBD2D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104;p19">
            <a:extLst>
              <a:ext uri="{FF2B5EF4-FFF2-40B4-BE49-F238E27FC236}">
                <a16:creationId xmlns:a16="http://schemas.microsoft.com/office/drawing/2014/main" id="{85F74A63-8624-49CD-5262-7A617C02619D}"/>
              </a:ext>
            </a:extLst>
          </p:cNvPr>
          <p:cNvSpPr/>
          <p:nvPr/>
        </p:nvSpPr>
        <p:spPr>
          <a:xfrm>
            <a:off x="0" y="492443"/>
            <a:ext cx="5953539" cy="6365557"/>
          </a:xfrm>
          <a:prstGeom prst="rect">
            <a:avLst/>
          </a:prstGeom>
          <a:solidFill>
            <a:srgbClr val="EC1F2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A777F3-39A2-11D2-6791-122839B4A1D1}"/>
              </a:ext>
            </a:extLst>
          </p:cNvPr>
          <p:cNvSpPr txBox="1"/>
          <p:nvPr/>
        </p:nvSpPr>
        <p:spPr>
          <a:xfrm>
            <a:off x="0" y="0"/>
            <a:ext cx="12192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Team, the decision is up to you. Here are some Courses of Action (COA):</a:t>
            </a:r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cxnSp>
        <p:nvCxnSpPr>
          <p:cNvPr id="2" name="Google Shape;105;p19">
            <a:extLst>
              <a:ext uri="{FF2B5EF4-FFF2-40B4-BE49-F238E27FC236}">
                <a16:creationId xmlns:a16="http://schemas.microsoft.com/office/drawing/2014/main" id="{2CD27C75-0294-70C1-44C2-C6972CD30084}"/>
              </a:ext>
            </a:extLst>
          </p:cNvPr>
          <p:cNvCxnSpPr>
            <a:cxnSpLocks/>
          </p:cNvCxnSpPr>
          <p:nvPr/>
        </p:nvCxnSpPr>
        <p:spPr>
          <a:xfrm flipH="1">
            <a:off x="6082528" y="492443"/>
            <a:ext cx="3312" cy="6364224"/>
          </a:xfrm>
          <a:prstGeom prst="straightConnector1">
            <a:avLst/>
          </a:prstGeom>
          <a:noFill/>
          <a:ln w="215900" cap="flat" cmpd="sng">
            <a:solidFill>
              <a:srgbClr val="FBD2D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Google Shape;104;p19">
            <a:extLst>
              <a:ext uri="{FF2B5EF4-FFF2-40B4-BE49-F238E27FC236}">
                <a16:creationId xmlns:a16="http://schemas.microsoft.com/office/drawing/2014/main" id="{38C0C8B7-E87F-D018-EF3E-149116BDB321}"/>
              </a:ext>
            </a:extLst>
          </p:cNvPr>
          <p:cNvSpPr/>
          <p:nvPr/>
        </p:nvSpPr>
        <p:spPr>
          <a:xfrm>
            <a:off x="6235133" y="495758"/>
            <a:ext cx="5953539" cy="6365557"/>
          </a:xfrm>
          <a:prstGeom prst="rect">
            <a:avLst/>
          </a:prstGeom>
          <a:solidFill>
            <a:srgbClr val="EC1F2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621679-8F7C-14BA-52D1-51BF6488C206}"/>
              </a:ext>
            </a:extLst>
          </p:cNvPr>
          <p:cNvSpPr txBox="1"/>
          <p:nvPr/>
        </p:nvSpPr>
        <p:spPr>
          <a:xfrm>
            <a:off x="8607272" y="493073"/>
            <a:ext cx="12092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COA 1:</a:t>
            </a:r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CD6580-CA9D-FA77-A715-E910DE16C3D3}"/>
              </a:ext>
            </a:extLst>
          </p:cNvPr>
          <p:cNvSpPr txBox="1"/>
          <p:nvPr/>
        </p:nvSpPr>
        <p:spPr>
          <a:xfrm>
            <a:off x="8653654" y="3574115"/>
            <a:ext cx="127552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COA 2:</a:t>
            </a:r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cxnSp>
        <p:nvCxnSpPr>
          <p:cNvPr id="9" name="Google Shape;105;p19">
            <a:extLst>
              <a:ext uri="{FF2B5EF4-FFF2-40B4-BE49-F238E27FC236}">
                <a16:creationId xmlns:a16="http://schemas.microsoft.com/office/drawing/2014/main" id="{A78942A5-A26D-DF44-53C3-865C8731C509}"/>
              </a:ext>
            </a:extLst>
          </p:cNvPr>
          <p:cNvCxnSpPr>
            <a:cxnSpLocks/>
          </p:cNvCxnSpPr>
          <p:nvPr/>
        </p:nvCxnSpPr>
        <p:spPr>
          <a:xfrm rot="5400000">
            <a:off x="6098032" y="-5592817"/>
            <a:ext cx="0" cy="12198096"/>
          </a:xfrm>
          <a:prstGeom prst="straightConnector1">
            <a:avLst/>
          </a:prstGeom>
          <a:noFill/>
          <a:ln w="76200" cap="flat" cmpd="sng">
            <a:solidFill>
              <a:srgbClr val="FBD2D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490CC41-0F66-59D6-0C42-ADF6458AF87F}"/>
              </a:ext>
            </a:extLst>
          </p:cNvPr>
          <p:cNvSpPr txBox="1"/>
          <p:nvPr/>
        </p:nvSpPr>
        <p:spPr>
          <a:xfrm>
            <a:off x="6153818" y="4010280"/>
            <a:ext cx="59230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Non-US salaries</a:t>
            </a:r>
            <a:r>
              <a:rPr lang="en-US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: Team of 3/annually: </a:t>
            </a:r>
            <a:r>
              <a:rPr lang="en-US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$269,000 </a:t>
            </a:r>
          </a:p>
          <a:p>
            <a:r>
              <a:rPr lang="en-US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(1 Senior + 2 Intermediate)</a:t>
            </a:r>
          </a:p>
          <a:p>
            <a:endParaRPr lang="en-US" sz="20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US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Advantages</a:t>
            </a:r>
            <a:r>
              <a:rPr lang="en-US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: Larger Talent Pool, Salary Savings, Outside Perspectives, </a:t>
            </a:r>
            <a:r>
              <a:rPr lang="en-US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Could Mix with US Based -&gt; for “follow the Sun” global presence COA 3</a:t>
            </a:r>
          </a:p>
          <a:p>
            <a:endParaRPr lang="en-US" sz="20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US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Disadvantages</a:t>
            </a:r>
            <a:r>
              <a:rPr lang="en-US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: Time Zones, Synchronous Collaboration, Decision Making Flow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9BAAF2-E452-8269-B963-3E594C3001B2}"/>
              </a:ext>
            </a:extLst>
          </p:cNvPr>
          <p:cNvSpPr txBox="1"/>
          <p:nvPr/>
        </p:nvSpPr>
        <p:spPr>
          <a:xfrm>
            <a:off x="6226725" y="865751"/>
            <a:ext cx="592307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US salaries</a:t>
            </a:r>
            <a:r>
              <a:rPr lang="en-US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: Team of 3/annually: </a:t>
            </a:r>
            <a:r>
              <a:rPr lang="en-US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$460,000 </a:t>
            </a:r>
          </a:p>
          <a:p>
            <a:r>
              <a:rPr lang="en-US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(1 Senior + 2 Intermediate)</a:t>
            </a:r>
          </a:p>
          <a:p>
            <a:endParaRPr lang="en-US" sz="20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US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Advantages</a:t>
            </a:r>
            <a:r>
              <a:rPr lang="en-US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: Cohesion, Lower Operational Friction, US Based Clients, Payroll Compliance</a:t>
            </a:r>
          </a:p>
          <a:p>
            <a:endParaRPr lang="en-US" sz="20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US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Disadvantages</a:t>
            </a:r>
            <a:r>
              <a:rPr lang="en-US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: Talent Scarcity, Wage Inflation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B4D51B7-78F0-1337-4B53-271C0A28B0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83" y="2849556"/>
            <a:ext cx="5826141" cy="397005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29B8CEE-8746-14DE-1184-259FDC5D15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5" y="597103"/>
            <a:ext cx="5897579" cy="167724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905034F-4883-571F-DFB7-16978291E89B}"/>
              </a:ext>
            </a:extLst>
          </p:cNvPr>
          <p:cNvSpPr txBox="1"/>
          <p:nvPr/>
        </p:nvSpPr>
        <p:spPr>
          <a:xfrm>
            <a:off x="1369962" y="3861125"/>
            <a:ext cx="120926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~$60k</a:t>
            </a:r>
            <a:b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</a:br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Less</a:t>
            </a:r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E2DBEC-A1DB-5E79-57D7-9214D078DBFF}"/>
              </a:ext>
            </a:extLst>
          </p:cNvPr>
          <p:cNvSpPr txBox="1"/>
          <p:nvPr/>
        </p:nvSpPr>
        <p:spPr>
          <a:xfrm>
            <a:off x="4368256" y="3194873"/>
            <a:ext cx="120926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~$70k</a:t>
            </a:r>
          </a:p>
          <a:p>
            <a:pPr algn="ctr"/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Less</a:t>
            </a:r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cxnSp>
        <p:nvCxnSpPr>
          <p:cNvPr id="16" name="Google Shape;105;p19">
            <a:extLst>
              <a:ext uri="{FF2B5EF4-FFF2-40B4-BE49-F238E27FC236}">
                <a16:creationId xmlns:a16="http://schemas.microsoft.com/office/drawing/2014/main" id="{5346ED5C-F21A-2BED-397E-548768D891F0}"/>
              </a:ext>
            </a:extLst>
          </p:cNvPr>
          <p:cNvCxnSpPr>
            <a:cxnSpLocks/>
          </p:cNvCxnSpPr>
          <p:nvPr/>
        </p:nvCxnSpPr>
        <p:spPr>
          <a:xfrm flipH="1">
            <a:off x="6236206" y="3560753"/>
            <a:ext cx="5952744" cy="0"/>
          </a:xfrm>
          <a:prstGeom prst="straightConnector1">
            <a:avLst/>
          </a:prstGeom>
          <a:noFill/>
          <a:ln w="76200" cap="flat" cmpd="sng">
            <a:solidFill>
              <a:srgbClr val="FBD2D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60FA48E-4ABC-4E1F-1C18-EB71D31A3212}"/>
              </a:ext>
            </a:extLst>
          </p:cNvPr>
          <p:cNvSpPr txBox="1"/>
          <p:nvPr/>
        </p:nvSpPr>
        <p:spPr>
          <a:xfrm>
            <a:off x="1076960" y="2332033"/>
            <a:ext cx="41148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Non-US Data Scientists</a:t>
            </a:r>
          </a:p>
        </p:txBody>
      </p:sp>
    </p:spTree>
    <p:extLst>
      <p:ext uri="{BB962C8B-B14F-4D97-AF65-F5344CB8AC3E}">
        <p14:creationId xmlns:p14="http://schemas.microsoft.com/office/powerpoint/2010/main" val="4140779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F00795D-481D-339B-5BAA-8C6960A85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04;p19">
            <a:extLst>
              <a:ext uri="{FF2B5EF4-FFF2-40B4-BE49-F238E27FC236}">
                <a16:creationId xmlns:a16="http://schemas.microsoft.com/office/drawing/2014/main" id="{228C349B-D07F-9EE5-1063-0EEFCFA60C5E}"/>
              </a:ext>
            </a:extLst>
          </p:cNvPr>
          <p:cNvSpPr/>
          <p:nvPr/>
        </p:nvSpPr>
        <p:spPr>
          <a:xfrm>
            <a:off x="2696595" y="7678871"/>
            <a:ext cx="12188952" cy="4005129"/>
          </a:xfrm>
          <a:prstGeom prst="rect">
            <a:avLst/>
          </a:prstGeom>
          <a:solidFill>
            <a:srgbClr val="EC1F2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cxnSp>
        <p:nvCxnSpPr>
          <p:cNvPr id="12" name="Google Shape;105;p19">
            <a:extLst>
              <a:ext uri="{FF2B5EF4-FFF2-40B4-BE49-F238E27FC236}">
                <a16:creationId xmlns:a16="http://schemas.microsoft.com/office/drawing/2014/main" id="{BCF83DB5-F296-2CC4-0E7A-E4E101A0F65A}"/>
              </a:ext>
            </a:extLst>
          </p:cNvPr>
          <p:cNvCxnSpPr>
            <a:cxnSpLocks/>
          </p:cNvCxnSpPr>
          <p:nvPr/>
        </p:nvCxnSpPr>
        <p:spPr>
          <a:xfrm rot="5400000">
            <a:off x="6098032" y="2372623"/>
            <a:ext cx="0" cy="12198096"/>
          </a:xfrm>
          <a:prstGeom prst="straightConnector1">
            <a:avLst/>
          </a:prstGeom>
          <a:noFill/>
          <a:ln w="76200" cap="flat" cmpd="sng">
            <a:solidFill>
              <a:srgbClr val="FBD2D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104;p19">
            <a:extLst>
              <a:ext uri="{FF2B5EF4-FFF2-40B4-BE49-F238E27FC236}">
                <a16:creationId xmlns:a16="http://schemas.microsoft.com/office/drawing/2014/main" id="{53652A42-4F9C-0F9F-F347-D8BCE8F2F9AF}"/>
              </a:ext>
            </a:extLst>
          </p:cNvPr>
          <p:cNvSpPr/>
          <p:nvPr/>
        </p:nvSpPr>
        <p:spPr>
          <a:xfrm>
            <a:off x="0" y="492443"/>
            <a:ext cx="5953539" cy="6365557"/>
          </a:xfrm>
          <a:prstGeom prst="rect">
            <a:avLst/>
          </a:prstGeom>
          <a:solidFill>
            <a:srgbClr val="EC1F2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84BE04-70CB-641E-3FBA-61D191DA6971}"/>
              </a:ext>
            </a:extLst>
          </p:cNvPr>
          <p:cNvSpPr txBox="1"/>
          <p:nvPr/>
        </p:nvSpPr>
        <p:spPr>
          <a:xfrm>
            <a:off x="0" y="0"/>
            <a:ext cx="12192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Team, the decision is up to you. Here are some Courses of Action (COA):</a:t>
            </a:r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cxnSp>
        <p:nvCxnSpPr>
          <p:cNvPr id="2" name="Google Shape;105;p19">
            <a:extLst>
              <a:ext uri="{FF2B5EF4-FFF2-40B4-BE49-F238E27FC236}">
                <a16:creationId xmlns:a16="http://schemas.microsoft.com/office/drawing/2014/main" id="{0E0DB0C4-CCBD-AC4C-986C-2BB31029C12B}"/>
              </a:ext>
            </a:extLst>
          </p:cNvPr>
          <p:cNvCxnSpPr>
            <a:cxnSpLocks/>
          </p:cNvCxnSpPr>
          <p:nvPr/>
        </p:nvCxnSpPr>
        <p:spPr>
          <a:xfrm flipH="1">
            <a:off x="6082528" y="492443"/>
            <a:ext cx="3312" cy="6364224"/>
          </a:xfrm>
          <a:prstGeom prst="straightConnector1">
            <a:avLst/>
          </a:prstGeom>
          <a:noFill/>
          <a:ln w="215900" cap="flat" cmpd="sng">
            <a:solidFill>
              <a:srgbClr val="FBD2D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Google Shape;104;p19">
            <a:extLst>
              <a:ext uri="{FF2B5EF4-FFF2-40B4-BE49-F238E27FC236}">
                <a16:creationId xmlns:a16="http://schemas.microsoft.com/office/drawing/2014/main" id="{61BFEA2F-3B2D-B69B-166C-516925869D1B}"/>
              </a:ext>
            </a:extLst>
          </p:cNvPr>
          <p:cNvSpPr/>
          <p:nvPr/>
        </p:nvSpPr>
        <p:spPr>
          <a:xfrm>
            <a:off x="6235133" y="495758"/>
            <a:ext cx="5953539" cy="6365557"/>
          </a:xfrm>
          <a:prstGeom prst="rect">
            <a:avLst/>
          </a:prstGeom>
          <a:solidFill>
            <a:srgbClr val="EC1F2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A37F16-1323-9451-BB20-AE421C436D06}"/>
              </a:ext>
            </a:extLst>
          </p:cNvPr>
          <p:cNvSpPr txBox="1"/>
          <p:nvPr/>
        </p:nvSpPr>
        <p:spPr>
          <a:xfrm>
            <a:off x="8607272" y="493073"/>
            <a:ext cx="12092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COA 1:</a:t>
            </a:r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8C7C54-3803-D80F-6032-F32AE56DDC31}"/>
              </a:ext>
            </a:extLst>
          </p:cNvPr>
          <p:cNvSpPr txBox="1"/>
          <p:nvPr/>
        </p:nvSpPr>
        <p:spPr>
          <a:xfrm>
            <a:off x="8653654" y="3574115"/>
            <a:ext cx="127552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COA 2:</a:t>
            </a:r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cxnSp>
        <p:nvCxnSpPr>
          <p:cNvPr id="9" name="Google Shape;105;p19">
            <a:extLst>
              <a:ext uri="{FF2B5EF4-FFF2-40B4-BE49-F238E27FC236}">
                <a16:creationId xmlns:a16="http://schemas.microsoft.com/office/drawing/2014/main" id="{7AA6DFB8-A3FA-9492-7E10-C70E7BA99B08}"/>
              </a:ext>
            </a:extLst>
          </p:cNvPr>
          <p:cNvCxnSpPr>
            <a:cxnSpLocks/>
          </p:cNvCxnSpPr>
          <p:nvPr/>
        </p:nvCxnSpPr>
        <p:spPr>
          <a:xfrm rot="5400000">
            <a:off x="6098032" y="-5592817"/>
            <a:ext cx="0" cy="12198096"/>
          </a:xfrm>
          <a:prstGeom prst="straightConnector1">
            <a:avLst/>
          </a:prstGeom>
          <a:noFill/>
          <a:ln w="76200" cap="flat" cmpd="sng">
            <a:solidFill>
              <a:srgbClr val="FBD2D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9841E53-3027-B9EB-0A6A-438856DC3266}"/>
              </a:ext>
            </a:extLst>
          </p:cNvPr>
          <p:cNvSpPr txBox="1"/>
          <p:nvPr/>
        </p:nvSpPr>
        <p:spPr>
          <a:xfrm>
            <a:off x="6153818" y="4010280"/>
            <a:ext cx="59230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Non-US salaries</a:t>
            </a:r>
            <a:r>
              <a:rPr lang="en-US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: Team of 3/annually: </a:t>
            </a:r>
            <a:r>
              <a:rPr lang="en-US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$269,000 </a:t>
            </a:r>
          </a:p>
          <a:p>
            <a:r>
              <a:rPr lang="en-US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(1 Senior + 2 Intermediate)</a:t>
            </a:r>
          </a:p>
          <a:p>
            <a:endParaRPr lang="en-US" sz="20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US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Advantages</a:t>
            </a:r>
            <a:r>
              <a:rPr lang="en-US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: Larger Talent Pool, Salary Savings, Outside Perspectives, </a:t>
            </a:r>
            <a:r>
              <a:rPr lang="en-US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Could Mix with US Based -&gt; for “follow the Sun” global presence COA 3</a:t>
            </a:r>
          </a:p>
          <a:p>
            <a:endParaRPr lang="en-US" sz="20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US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Disadvantages</a:t>
            </a:r>
            <a:r>
              <a:rPr lang="en-US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: Time Zones, Synchronous Collaboration, Decision Making Flow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0E7903-F322-6D73-8961-754356D61168}"/>
              </a:ext>
            </a:extLst>
          </p:cNvPr>
          <p:cNvSpPr txBox="1"/>
          <p:nvPr/>
        </p:nvSpPr>
        <p:spPr>
          <a:xfrm>
            <a:off x="6226725" y="865751"/>
            <a:ext cx="592307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US salaries</a:t>
            </a:r>
            <a:r>
              <a:rPr lang="en-US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: Team of 3/annually: </a:t>
            </a:r>
            <a:r>
              <a:rPr lang="en-US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$460,000 </a:t>
            </a:r>
          </a:p>
          <a:p>
            <a:r>
              <a:rPr lang="en-US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(1 Senior + 2 Intermediate)</a:t>
            </a:r>
          </a:p>
          <a:p>
            <a:endParaRPr lang="en-US" sz="20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US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Advantages</a:t>
            </a:r>
            <a:r>
              <a:rPr lang="en-US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: Cohesion, Lower Operational Friction, US Based Clients, Payroll Compliance</a:t>
            </a:r>
          </a:p>
          <a:p>
            <a:endParaRPr lang="en-US" sz="20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US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Disadvantages</a:t>
            </a:r>
            <a:r>
              <a:rPr lang="en-US" sz="20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: Talent Scarcity, Wage Inflation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88CE7F0-1776-4BA7-D283-973F79BEB8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83" y="2849556"/>
            <a:ext cx="5826141" cy="397005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C7670EF-5AF2-5850-C173-6F69F28B8F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5" y="597103"/>
            <a:ext cx="5897579" cy="167724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0A5B251-7F98-C02E-D652-93F6241AEE1D}"/>
              </a:ext>
            </a:extLst>
          </p:cNvPr>
          <p:cNvSpPr txBox="1"/>
          <p:nvPr/>
        </p:nvSpPr>
        <p:spPr>
          <a:xfrm>
            <a:off x="1658194" y="4040028"/>
            <a:ext cx="12092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~$60k</a:t>
            </a:r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700BDC-DD99-79CF-1C8C-BC406891BD21}"/>
              </a:ext>
            </a:extLst>
          </p:cNvPr>
          <p:cNvSpPr txBox="1"/>
          <p:nvPr/>
        </p:nvSpPr>
        <p:spPr>
          <a:xfrm>
            <a:off x="4030328" y="3194873"/>
            <a:ext cx="12092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~$70k</a:t>
            </a:r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cxnSp>
        <p:nvCxnSpPr>
          <p:cNvPr id="16" name="Google Shape;105;p19">
            <a:extLst>
              <a:ext uri="{FF2B5EF4-FFF2-40B4-BE49-F238E27FC236}">
                <a16:creationId xmlns:a16="http://schemas.microsoft.com/office/drawing/2014/main" id="{71F1BB79-A234-FA0A-E1E1-D3088E0FD3B6}"/>
              </a:ext>
            </a:extLst>
          </p:cNvPr>
          <p:cNvCxnSpPr>
            <a:cxnSpLocks/>
          </p:cNvCxnSpPr>
          <p:nvPr/>
        </p:nvCxnSpPr>
        <p:spPr>
          <a:xfrm flipH="1">
            <a:off x="6236206" y="3560753"/>
            <a:ext cx="5952744" cy="0"/>
          </a:xfrm>
          <a:prstGeom prst="straightConnector1">
            <a:avLst/>
          </a:prstGeom>
          <a:noFill/>
          <a:ln w="76200" cap="flat" cmpd="sng">
            <a:solidFill>
              <a:srgbClr val="FBD2D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DA8E071-F04F-2826-9E3C-1D281DF4111B}"/>
              </a:ext>
            </a:extLst>
          </p:cNvPr>
          <p:cNvSpPr txBox="1"/>
          <p:nvPr/>
        </p:nvSpPr>
        <p:spPr>
          <a:xfrm>
            <a:off x="1076960" y="2332033"/>
            <a:ext cx="41148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Non-US Data Scientists</a:t>
            </a:r>
          </a:p>
        </p:txBody>
      </p:sp>
    </p:spTree>
    <p:extLst>
      <p:ext uri="{BB962C8B-B14F-4D97-AF65-F5344CB8AC3E}">
        <p14:creationId xmlns:p14="http://schemas.microsoft.com/office/powerpoint/2010/main" val="3194370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FD4C916-E1C5-3E5D-1E06-7E656D98C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04;p19">
            <a:extLst>
              <a:ext uri="{FF2B5EF4-FFF2-40B4-BE49-F238E27FC236}">
                <a16:creationId xmlns:a16="http://schemas.microsoft.com/office/drawing/2014/main" id="{9857475A-35EF-91EA-295C-AEE51EF51840}"/>
              </a:ext>
            </a:extLst>
          </p:cNvPr>
          <p:cNvSpPr/>
          <p:nvPr/>
        </p:nvSpPr>
        <p:spPr>
          <a:xfrm>
            <a:off x="0" y="492443"/>
            <a:ext cx="5953539" cy="6365557"/>
          </a:xfrm>
          <a:prstGeom prst="rect">
            <a:avLst/>
          </a:prstGeom>
          <a:solidFill>
            <a:srgbClr val="EC1F2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6A450C-3EBC-64CE-ECD2-841DD061CA46}"/>
              </a:ext>
            </a:extLst>
          </p:cNvPr>
          <p:cNvSpPr txBox="1"/>
          <p:nvPr/>
        </p:nvSpPr>
        <p:spPr>
          <a:xfrm>
            <a:off x="0" y="0"/>
            <a:ext cx="12192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Team, the decision is up to you. Here are some Courses of Action:</a:t>
            </a:r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cxnSp>
        <p:nvCxnSpPr>
          <p:cNvPr id="2" name="Google Shape;105;p19">
            <a:extLst>
              <a:ext uri="{FF2B5EF4-FFF2-40B4-BE49-F238E27FC236}">
                <a16:creationId xmlns:a16="http://schemas.microsoft.com/office/drawing/2014/main" id="{72C1ED0D-02E2-4D5B-F849-E97294EA81BD}"/>
              </a:ext>
            </a:extLst>
          </p:cNvPr>
          <p:cNvCxnSpPr>
            <a:cxnSpLocks/>
          </p:cNvCxnSpPr>
          <p:nvPr/>
        </p:nvCxnSpPr>
        <p:spPr>
          <a:xfrm flipH="1">
            <a:off x="6082528" y="492443"/>
            <a:ext cx="3312" cy="6364224"/>
          </a:xfrm>
          <a:prstGeom prst="straightConnector1">
            <a:avLst/>
          </a:prstGeom>
          <a:noFill/>
          <a:ln w="215900" cap="flat" cmpd="sng">
            <a:solidFill>
              <a:srgbClr val="FBD2D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Google Shape;104;p19">
            <a:extLst>
              <a:ext uri="{FF2B5EF4-FFF2-40B4-BE49-F238E27FC236}">
                <a16:creationId xmlns:a16="http://schemas.microsoft.com/office/drawing/2014/main" id="{6B772A08-75EB-F1D8-1D10-6EDA28B0F1A7}"/>
              </a:ext>
            </a:extLst>
          </p:cNvPr>
          <p:cNvSpPr/>
          <p:nvPr/>
        </p:nvSpPr>
        <p:spPr>
          <a:xfrm>
            <a:off x="6235133" y="495758"/>
            <a:ext cx="5953539" cy="6365557"/>
          </a:xfrm>
          <a:prstGeom prst="rect">
            <a:avLst/>
          </a:prstGeom>
          <a:solidFill>
            <a:srgbClr val="EC1F2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0D0047-DDD4-9293-73B7-5E0294073F1C}"/>
              </a:ext>
            </a:extLst>
          </p:cNvPr>
          <p:cNvSpPr txBox="1"/>
          <p:nvPr/>
        </p:nvSpPr>
        <p:spPr>
          <a:xfrm>
            <a:off x="6593059" y="5399722"/>
            <a:ext cx="12092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COA 1:</a:t>
            </a:r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76CDA7-DE8B-1A9E-A995-41E7518EB4C5}"/>
              </a:ext>
            </a:extLst>
          </p:cNvPr>
          <p:cNvSpPr txBox="1"/>
          <p:nvPr/>
        </p:nvSpPr>
        <p:spPr>
          <a:xfrm>
            <a:off x="8574141" y="492442"/>
            <a:ext cx="127552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COA 2:</a:t>
            </a:r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cxnSp>
        <p:nvCxnSpPr>
          <p:cNvPr id="9" name="Google Shape;105;p19">
            <a:extLst>
              <a:ext uri="{FF2B5EF4-FFF2-40B4-BE49-F238E27FC236}">
                <a16:creationId xmlns:a16="http://schemas.microsoft.com/office/drawing/2014/main" id="{046F4B15-1252-BC94-70CF-0FB99BC2CA50}"/>
              </a:ext>
            </a:extLst>
          </p:cNvPr>
          <p:cNvCxnSpPr>
            <a:cxnSpLocks/>
          </p:cNvCxnSpPr>
          <p:nvPr/>
        </p:nvCxnSpPr>
        <p:spPr>
          <a:xfrm rot="5400000">
            <a:off x="6098032" y="-5592817"/>
            <a:ext cx="0" cy="12198096"/>
          </a:xfrm>
          <a:prstGeom prst="straightConnector1">
            <a:avLst/>
          </a:prstGeom>
          <a:noFill/>
          <a:ln w="76200" cap="flat" cmpd="sng">
            <a:solidFill>
              <a:srgbClr val="FBD2D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79B43B5-B9EE-78E6-209B-2A22F25528D0}"/>
              </a:ext>
            </a:extLst>
          </p:cNvPr>
          <p:cNvSpPr txBox="1"/>
          <p:nvPr/>
        </p:nvSpPr>
        <p:spPr>
          <a:xfrm>
            <a:off x="8001221" y="3469142"/>
            <a:ext cx="5923075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Non-US salaries: </a:t>
            </a:r>
          </a:p>
          <a:p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US" sz="2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Advantages: </a:t>
            </a:r>
          </a:p>
          <a:p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US" sz="2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Disadvantages: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7D43E3-3F7C-8DB1-E8DD-03AB222E290C}"/>
              </a:ext>
            </a:extLst>
          </p:cNvPr>
          <p:cNvSpPr txBox="1"/>
          <p:nvPr/>
        </p:nvSpPr>
        <p:spPr>
          <a:xfrm>
            <a:off x="6258560" y="995680"/>
            <a:ext cx="5923075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US salaries: </a:t>
            </a:r>
          </a:p>
          <a:p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US" sz="2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Advantages: </a:t>
            </a:r>
          </a:p>
          <a:p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US" sz="2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Disadvantages: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BF8AC2A-F6BE-7834-0507-1CF3C38EBE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83" y="3250827"/>
            <a:ext cx="5826141" cy="356878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EC6742D-9192-C4FF-2973-2777F95F57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5" y="597103"/>
            <a:ext cx="5897579" cy="158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771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F52B073-7B58-F890-1CE6-15E0195D9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04;p19">
            <a:extLst>
              <a:ext uri="{FF2B5EF4-FFF2-40B4-BE49-F238E27FC236}">
                <a16:creationId xmlns:a16="http://schemas.microsoft.com/office/drawing/2014/main" id="{C1B59052-753D-44B9-8622-017754134666}"/>
              </a:ext>
            </a:extLst>
          </p:cNvPr>
          <p:cNvSpPr/>
          <p:nvPr/>
        </p:nvSpPr>
        <p:spPr>
          <a:xfrm>
            <a:off x="0" y="492443"/>
            <a:ext cx="5953539" cy="6365557"/>
          </a:xfrm>
          <a:prstGeom prst="rect">
            <a:avLst/>
          </a:prstGeom>
          <a:solidFill>
            <a:srgbClr val="EC1F2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855E83-3C9C-B087-3B1E-7C3132376F3A}"/>
              </a:ext>
            </a:extLst>
          </p:cNvPr>
          <p:cNvSpPr txBox="1"/>
          <p:nvPr/>
        </p:nvSpPr>
        <p:spPr>
          <a:xfrm>
            <a:off x="0" y="0"/>
            <a:ext cx="12192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Team, the decision is up to you. Here are some Courses of Action:</a:t>
            </a:r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cxnSp>
        <p:nvCxnSpPr>
          <p:cNvPr id="2" name="Google Shape;105;p19">
            <a:extLst>
              <a:ext uri="{FF2B5EF4-FFF2-40B4-BE49-F238E27FC236}">
                <a16:creationId xmlns:a16="http://schemas.microsoft.com/office/drawing/2014/main" id="{F8032F42-93A9-C412-ADE5-C0A4439AB540}"/>
              </a:ext>
            </a:extLst>
          </p:cNvPr>
          <p:cNvCxnSpPr>
            <a:cxnSpLocks/>
          </p:cNvCxnSpPr>
          <p:nvPr/>
        </p:nvCxnSpPr>
        <p:spPr>
          <a:xfrm flipH="1">
            <a:off x="6082528" y="492443"/>
            <a:ext cx="3312" cy="6364224"/>
          </a:xfrm>
          <a:prstGeom prst="straightConnector1">
            <a:avLst/>
          </a:prstGeom>
          <a:noFill/>
          <a:ln w="215900" cap="flat" cmpd="sng">
            <a:solidFill>
              <a:srgbClr val="FBD2D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Google Shape;104;p19">
            <a:extLst>
              <a:ext uri="{FF2B5EF4-FFF2-40B4-BE49-F238E27FC236}">
                <a16:creationId xmlns:a16="http://schemas.microsoft.com/office/drawing/2014/main" id="{57219043-C6D3-844E-3F6C-8A023EE41BF6}"/>
              </a:ext>
            </a:extLst>
          </p:cNvPr>
          <p:cNvSpPr/>
          <p:nvPr/>
        </p:nvSpPr>
        <p:spPr>
          <a:xfrm>
            <a:off x="6235133" y="495758"/>
            <a:ext cx="5953539" cy="6365557"/>
          </a:xfrm>
          <a:prstGeom prst="rect">
            <a:avLst/>
          </a:prstGeom>
          <a:solidFill>
            <a:srgbClr val="EC1F2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48EA88-7DA8-6C3E-CF5B-3A1F81EDFB4F}"/>
              </a:ext>
            </a:extLst>
          </p:cNvPr>
          <p:cNvSpPr txBox="1"/>
          <p:nvPr/>
        </p:nvSpPr>
        <p:spPr>
          <a:xfrm>
            <a:off x="2372139" y="492443"/>
            <a:ext cx="12092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COA 1:</a:t>
            </a:r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C74B1E-3BB8-8724-7C20-37EF874995D1}"/>
              </a:ext>
            </a:extLst>
          </p:cNvPr>
          <p:cNvSpPr txBox="1"/>
          <p:nvPr/>
        </p:nvSpPr>
        <p:spPr>
          <a:xfrm>
            <a:off x="8574141" y="492442"/>
            <a:ext cx="127552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COA 2:</a:t>
            </a:r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cxnSp>
        <p:nvCxnSpPr>
          <p:cNvPr id="9" name="Google Shape;105;p19">
            <a:extLst>
              <a:ext uri="{FF2B5EF4-FFF2-40B4-BE49-F238E27FC236}">
                <a16:creationId xmlns:a16="http://schemas.microsoft.com/office/drawing/2014/main" id="{4322EDE5-A786-ECB7-C5B7-C5E3F60FEE35}"/>
              </a:ext>
            </a:extLst>
          </p:cNvPr>
          <p:cNvCxnSpPr>
            <a:cxnSpLocks/>
          </p:cNvCxnSpPr>
          <p:nvPr/>
        </p:nvCxnSpPr>
        <p:spPr>
          <a:xfrm rot="5400000">
            <a:off x="6098032" y="-5592817"/>
            <a:ext cx="0" cy="12198096"/>
          </a:xfrm>
          <a:prstGeom prst="straightConnector1">
            <a:avLst/>
          </a:prstGeom>
          <a:noFill/>
          <a:ln w="76200" cap="flat" cmpd="sng">
            <a:solidFill>
              <a:srgbClr val="FBD2D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8D4C542-A065-679F-E6EC-898F46A8C185}"/>
              </a:ext>
            </a:extLst>
          </p:cNvPr>
          <p:cNvSpPr txBox="1"/>
          <p:nvPr/>
        </p:nvSpPr>
        <p:spPr>
          <a:xfrm>
            <a:off x="10160" y="995680"/>
            <a:ext cx="5923075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Non-US salaries: </a:t>
            </a:r>
          </a:p>
          <a:p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US" sz="2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Advantages: </a:t>
            </a:r>
          </a:p>
          <a:p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US" sz="2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Disadvantages: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FEC3AE-6F71-1DA5-D422-494E92320984}"/>
              </a:ext>
            </a:extLst>
          </p:cNvPr>
          <p:cNvSpPr txBox="1"/>
          <p:nvPr/>
        </p:nvSpPr>
        <p:spPr>
          <a:xfrm>
            <a:off x="6258560" y="995680"/>
            <a:ext cx="5923075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US salaries: </a:t>
            </a:r>
          </a:p>
          <a:p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US" sz="2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Advantages: </a:t>
            </a:r>
          </a:p>
          <a:p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US" sz="2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Disadvantages: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9ADD3C6-4B86-1131-B919-4A4E8D6B66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7574" y="4214824"/>
            <a:ext cx="4836066" cy="264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347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1343EC3-9721-E3F2-0F8C-34FA1ACCC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04;p19">
            <a:extLst>
              <a:ext uri="{FF2B5EF4-FFF2-40B4-BE49-F238E27FC236}">
                <a16:creationId xmlns:a16="http://schemas.microsoft.com/office/drawing/2014/main" id="{BDD04BBB-64EC-E88F-80D6-24222B9CD584}"/>
              </a:ext>
            </a:extLst>
          </p:cNvPr>
          <p:cNvSpPr/>
          <p:nvPr/>
        </p:nvSpPr>
        <p:spPr>
          <a:xfrm>
            <a:off x="0" y="2852871"/>
            <a:ext cx="12188952" cy="4005129"/>
          </a:xfrm>
          <a:prstGeom prst="rect">
            <a:avLst/>
          </a:prstGeom>
          <a:solidFill>
            <a:srgbClr val="EC1F2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cxnSp>
        <p:nvCxnSpPr>
          <p:cNvPr id="12" name="Google Shape;105;p19">
            <a:extLst>
              <a:ext uri="{FF2B5EF4-FFF2-40B4-BE49-F238E27FC236}">
                <a16:creationId xmlns:a16="http://schemas.microsoft.com/office/drawing/2014/main" id="{4D49863A-09C9-01AE-CC53-AD00441B3064}"/>
              </a:ext>
            </a:extLst>
          </p:cNvPr>
          <p:cNvCxnSpPr>
            <a:cxnSpLocks/>
          </p:cNvCxnSpPr>
          <p:nvPr/>
        </p:nvCxnSpPr>
        <p:spPr>
          <a:xfrm rot="5400000">
            <a:off x="6098032" y="-3276337"/>
            <a:ext cx="0" cy="12198096"/>
          </a:xfrm>
          <a:prstGeom prst="straightConnector1">
            <a:avLst/>
          </a:prstGeom>
          <a:noFill/>
          <a:ln w="76200" cap="flat" cmpd="sng">
            <a:solidFill>
              <a:srgbClr val="FBD2D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104;p19">
            <a:extLst>
              <a:ext uri="{FF2B5EF4-FFF2-40B4-BE49-F238E27FC236}">
                <a16:creationId xmlns:a16="http://schemas.microsoft.com/office/drawing/2014/main" id="{074E2E76-92E5-D467-9934-B87F721C73A2}"/>
              </a:ext>
            </a:extLst>
          </p:cNvPr>
          <p:cNvSpPr/>
          <p:nvPr/>
        </p:nvSpPr>
        <p:spPr>
          <a:xfrm>
            <a:off x="0" y="492443"/>
            <a:ext cx="5953539" cy="6365557"/>
          </a:xfrm>
          <a:prstGeom prst="rect">
            <a:avLst/>
          </a:prstGeom>
          <a:solidFill>
            <a:srgbClr val="EC1F2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C41EAF-B2B4-6D48-BFEC-ACE51F39E08A}"/>
              </a:ext>
            </a:extLst>
          </p:cNvPr>
          <p:cNvSpPr txBox="1"/>
          <p:nvPr/>
        </p:nvSpPr>
        <p:spPr>
          <a:xfrm>
            <a:off x="0" y="0"/>
            <a:ext cx="12192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Team, the decision is up to you. Here are some Courses of Action:</a:t>
            </a:r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cxnSp>
        <p:nvCxnSpPr>
          <p:cNvPr id="2" name="Google Shape;105;p19">
            <a:extLst>
              <a:ext uri="{FF2B5EF4-FFF2-40B4-BE49-F238E27FC236}">
                <a16:creationId xmlns:a16="http://schemas.microsoft.com/office/drawing/2014/main" id="{7490ADFF-B371-AA98-C24E-AAE2F9273B38}"/>
              </a:ext>
            </a:extLst>
          </p:cNvPr>
          <p:cNvCxnSpPr>
            <a:cxnSpLocks/>
          </p:cNvCxnSpPr>
          <p:nvPr/>
        </p:nvCxnSpPr>
        <p:spPr>
          <a:xfrm flipH="1">
            <a:off x="6082528" y="492443"/>
            <a:ext cx="3312" cy="6364224"/>
          </a:xfrm>
          <a:prstGeom prst="straightConnector1">
            <a:avLst/>
          </a:prstGeom>
          <a:noFill/>
          <a:ln w="215900" cap="flat" cmpd="sng">
            <a:solidFill>
              <a:srgbClr val="FBD2D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Google Shape;104;p19">
            <a:extLst>
              <a:ext uri="{FF2B5EF4-FFF2-40B4-BE49-F238E27FC236}">
                <a16:creationId xmlns:a16="http://schemas.microsoft.com/office/drawing/2014/main" id="{F31EDB8D-AEA0-DEE9-473A-0649591BFD29}"/>
              </a:ext>
            </a:extLst>
          </p:cNvPr>
          <p:cNvSpPr/>
          <p:nvPr/>
        </p:nvSpPr>
        <p:spPr>
          <a:xfrm>
            <a:off x="6235133" y="495758"/>
            <a:ext cx="5953539" cy="6365557"/>
          </a:xfrm>
          <a:prstGeom prst="rect">
            <a:avLst/>
          </a:prstGeom>
          <a:solidFill>
            <a:srgbClr val="EC1F2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62AE92-DC98-C8D2-008F-6B3C1F746177}"/>
              </a:ext>
            </a:extLst>
          </p:cNvPr>
          <p:cNvSpPr txBox="1"/>
          <p:nvPr/>
        </p:nvSpPr>
        <p:spPr>
          <a:xfrm>
            <a:off x="2372139" y="492443"/>
            <a:ext cx="12092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COA 1:</a:t>
            </a:r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ACD65B-3A83-7DAB-7F6A-6E51FB94281B}"/>
              </a:ext>
            </a:extLst>
          </p:cNvPr>
          <p:cNvSpPr txBox="1"/>
          <p:nvPr/>
        </p:nvSpPr>
        <p:spPr>
          <a:xfrm>
            <a:off x="8574141" y="492442"/>
            <a:ext cx="127552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COA 2:</a:t>
            </a:r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cxnSp>
        <p:nvCxnSpPr>
          <p:cNvPr id="9" name="Google Shape;105;p19">
            <a:extLst>
              <a:ext uri="{FF2B5EF4-FFF2-40B4-BE49-F238E27FC236}">
                <a16:creationId xmlns:a16="http://schemas.microsoft.com/office/drawing/2014/main" id="{513F51BC-DD53-6EB6-6DFC-3DD0DEFA98B5}"/>
              </a:ext>
            </a:extLst>
          </p:cNvPr>
          <p:cNvCxnSpPr>
            <a:cxnSpLocks/>
          </p:cNvCxnSpPr>
          <p:nvPr/>
        </p:nvCxnSpPr>
        <p:spPr>
          <a:xfrm rot="5400000">
            <a:off x="6098032" y="-5592817"/>
            <a:ext cx="0" cy="12198096"/>
          </a:xfrm>
          <a:prstGeom prst="straightConnector1">
            <a:avLst/>
          </a:prstGeom>
          <a:noFill/>
          <a:ln w="76200" cap="flat" cmpd="sng">
            <a:solidFill>
              <a:srgbClr val="FBD2D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7F3A61B-2AE1-B69D-8045-8A3198DA7909}"/>
              </a:ext>
            </a:extLst>
          </p:cNvPr>
          <p:cNvSpPr txBox="1"/>
          <p:nvPr/>
        </p:nvSpPr>
        <p:spPr>
          <a:xfrm>
            <a:off x="10160" y="995680"/>
            <a:ext cx="5923075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Non-US salaries: </a:t>
            </a:r>
          </a:p>
          <a:p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US" sz="2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Advantages: </a:t>
            </a:r>
          </a:p>
          <a:p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US" sz="2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Disadvantages: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276544-E4BB-4F2A-E51E-53F95EC523D5}"/>
              </a:ext>
            </a:extLst>
          </p:cNvPr>
          <p:cNvSpPr txBox="1"/>
          <p:nvPr/>
        </p:nvSpPr>
        <p:spPr>
          <a:xfrm>
            <a:off x="6258560" y="995680"/>
            <a:ext cx="5923075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US salaries: </a:t>
            </a:r>
          </a:p>
          <a:p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US" sz="2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Advantages: </a:t>
            </a:r>
          </a:p>
          <a:p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US" sz="2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Disadvantages: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9E94DC8-C7B4-7A2C-CFB4-1F6AE74F42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7574" y="4214824"/>
            <a:ext cx="4836066" cy="264184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A26A6F-7FE4-92D7-9BDF-1FD47474B9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57" y="3966696"/>
            <a:ext cx="5992529" cy="156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5629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5CA3737-F64D-98C4-4237-E5FEB1D95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04;p19">
            <a:extLst>
              <a:ext uri="{FF2B5EF4-FFF2-40B4-BE49-F238E27FC236}">
                <a16:creationId xmlns:a16="http://schemas.microsoft.com/office/drawing/2014/main" id="{6EB89A10-D71B-3A33-5ABF-B738ABFCF19C}"/>
              </a:ext>
            </a:extLst>
          </p:cNvPr>
          <p:cNvSpPr/>
          <p:nvPr/>
        </p:nvSpPr>
        <p:spPr>
          <a:xfrm>
            <a:off x="0" y="2852871"/>
            <a:ext cx="12188952" cy="4005129"/>
          </a:xfrm>
          <a:prstGeom prst="rect">
            <a:avLst/>
          </a:prstGeom>
          <a:solidFill>
            <a:srgbClr val="EC1F2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cxnSp>
        <p:nvCxnSpPr>
          <p:cNvPr id="12" name="Google Shape;105;p19">
            <a:extLst>
              <a:ext uri="{FF2B5EF4-FFF2-40B4-BE49-F238E27FC236}">
                <a16:creationId xmlns:a16="http://schemas.microsoft.com/office/drawing/2014/main" id="{12FD9C41-C901-3572-0362-2B0F782F14D9}"/>
              </a:ext>
            </a:extLst>
          </p:cNvPr>
          <p:cNvCxnSpPr>
            <a:cxnSpLocks/>
          </p:cNvCxnSpPr>
          <p:nvPr/>
        </p:nvCxnSpPr>
        <p:spPr>
          <a:xfrm rot="5400000">
            <a:off x="6098032" y="-3276337"/>
            <a:ext cx="0" cy="12198096"/>
          </a:xfrm>
          <a:prstGeom prst="straightConnector1">
            <a:avLst/>
          </a:prstGeom>
          <a:noFill/>
          <a:ln w="76200" cap="flat" cmpd="sng">
            <a:solidFill>
              <a:srgbClr val="FBD2D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104;p19">
            <a:extLst>
              <a:ext uri="{FF2B5EF4-FFF2-40B4-BE49-F238E27FC236}">
                <a16:creationId xmlns:a16="http://schemas.microsoft.com/office/drawing/2014/main" id="{494E2D87-F98E-EA5E-5D45-05E62A866393}"/>
              </a:ext>
            </a:extLst>
          </p:cNvPr>
          <p:cNvSpPr/>
          <p:nvPr/>
        </p:nvSpPr>
        <p:spPr>
          <a:xfrm>
            <a:off x="0" y="492443"/>
            <a:ext cx="5953539" cy="6365557"/>
          </a:xfrm>
          <a:prstGeom prst="rect">
            <a:avLst/>
          </a:prstGeom>
          <a:solidFill>
            <a:srgbClr val="EC1F2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BCDA0C-B5E1-E1D8-5D4F-64D9AAC320F4}"/>
              </a:ext>
            </a:extLst>
          </p:cNvPr>
          <p:cNvSpPr txBox="1"/>
          <p:nvPr/>
        </p:nvSpPr>
        <p:spPr>
          <a:xfrm>
            <a:off x="0" y="0"/>
            <a:ext cx="12192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Team, the decision is up to you. Here are some Courses of Action:</a:t>
            </a:r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cxnSp>
        <p:nvCxnSpPr>
          <p:cNvPr id="2" name="Google Shape;105;p19">
            <a:extLst>
              <a:ext uri="{FF2B5EF4-FFF2-40B4-BE49-F238E27FC236}">
                <a16:creationId xmlns:a16="http://schemas.microsoft.com/office/drawing/2014/main" id="{46539C1E-29F5-8240-35E7-677C46135A3B}"/>
              </a:ext>
            </a:extLst>
          </p:cNvPr>
          <p:cNvCxnSpPr>
            <a:cxnSpLocks/>
          </p:cNvCxnSpPr>
          <p:nvPr/>
        </p:nvCxnSpPr>
        <p:spPr>
          <a:xfrm flipH="1">
            <a:off x="6082528" y="492443"/>
            <a:ext cx="3312" cy="6364224"/>
          </a:xfrm>
          <a:prstGeom prst="straightConnector1">
            <a:avLst/>
          </a:prstGeom>
          <a:noFill/>
          <a:ln w="215900" cap="flat" cmpd="sng">
            <a:solidFill>
              <a:srgbClr val="FBD2D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Google Shape;104;p19">
            <a:extLst>
              <a:ext uri="{FF2B5EF4-FFF2-40B4-BE49-F238E27FC236}">
                <a16:creationId xmlns:a16="http://schemas.microsoft.com/office/drawing/2014/main" id="{9F9D0EBE-0C2A-E884-2D2C-AF6509F05400}"/>
              </a:ext>
            </a:extLst>
          </p:cNvPr>
          <p:cNvSpPr/>
          <p:nvPr/>
        </p:nvSpPr>
        <p:spPr>
          <a:xfrm>
            <a:off x="6235133" y="495758"/>
            <a:ext cx="5953539" cy="6365557"/>
          </a:xfrm>
          <a:prstGeom prst="rect">
            <a:avLst/>
          </a:prstGeom>
          <a:solidFill>
            <a:srgbClr val="EC1F2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7A75A2-F411-F636-ACA2-186FA8A1249D}"/>
              </a:ext>
            </a:extLst>
          </p:cNvPr>
          <p:cNvSpPr txBox="1"/>
          <p:nvPr/>
        </p:nvSpPr>
        <p:spPr>
          <a:xfrm>
            <a:off x="10012459" y="1052267"/>
            <a:ext cx="12092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COA 1:</a:t>
            </a:r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CC2A96-EC21-0ABB-4853-564D5D77B9EF}"/>
              </a:ext>
            </a:extLst>
          </p:cNvPr>
          <p:cNvSpPr txBox="1"/>
          <p:nvPr/>
        </p:nvSpPr>
        <p:spPr>
          <a:xfrm>
            <a:off x="8574141" y="492442"/>
            <a:ext cx="127552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COA 2:</a:t>
            </a:r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cxnSp>
        <p:nvCxnSpPr>
          <p:cNvPr id="9" name="Google Shape;105;p19">
            <a:extLst>
              <a:ext uri="{FF2B5EF4-FFF2-40B4-BE49-F238E27FC236}">
                <a16:creationId xmlns:a16="http://schemas.microsoft.com/office/drawing/2014/main" id="{30D2949E-7970-E2C6-046E-ADB66696657D}"/>
              </a:ext>
            </a:extLst>
          </p:cNvPr>
          <p:cNvCxnSpPr>
            <a:cxnSpLocks/>
          </p:cNvCxnSpPr>
          <p:nvPr/>
        </p:nvCxnSpPr>
        <p:spPr>
          <a:xfrm rot="5400000">
            <a:off x="6098032" y="-5592817"/>
            <a:ext cx="0" cy="12198096"/>
          </a:xfrm>
          <a:prstGeom prst="straightConnector1">
            <a:avLst/>
          </a:prstGeom>
          <a:noFill/>
          <a:ln w="76200" cap="flat" cmpd="sng">
            <a:solidFill>
              <a:srgbClr val="FBD2D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B9823E3-BB07-A3B5-E949-0B5012FE39AB}"/>
              </a:ext>
            </a:extLst>
          </p:cNvPr>
          <p:cNvSpPr txBox="1"/>
          <p:nvPr/>
        </p:nvSpPr>
        <p:spPr>
          <a:xfrm>
            <a:off x="8574141" y="1859032"/>
            <a:ext cx="5923075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Non-US salaries: </a:t>
            </a:r>
          </a:p>
          <a:p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US" sz="2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Advantages: </a:t>
            </a:r>
          </a:p>
          <a:p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US" sz="2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Disadvantages: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AB1B50-D584-1525-4211-A739B7344C9B}"/>
              </a:ext>
            </a:extLst>
          </p:cNvPr>
          <p:cNvSpPr txBox="1"/>
          <p:nvPr/>
        </p:nvSpPr>
        <p:spPr>
          <a:xfrm>
            <a:off x="6258560" y="995680"/>
            <a:ext cx="5923075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US salaries: </a:t>
            </a:r>
          </a:p>
          <a:p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US" sz="2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Advantages: </a:t>
            </a:r>
          </a:p>
          <a:p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US" sz="2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Disadvantages: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F140077-EE49-AAEC-933A-B8C0A7D21F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83" y="3250827"/>
            <a:ext cx="5826141" cy="35687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EF91B2A-6B36-F292-95CD-7AF0F86EA9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5" y="597103"/>
            <a:ext cx="5897579" cy="158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083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E42087D-582A-EBBB-E7E7-AADEA0D48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04;p19">
            <a:extLst>
              <a:ext uri="{FF2B5EF4-FFF2-40B4-BE49-F238E27FC236}">
                <a16:creationId xmlns:a16="http://schemas.microsoft.com/office/drawing/2014/main" id="{B31D647B-354B-3622-0199-01144C716564}"/>
              </a:ext>
            </a:extLst>
          </p:cNvPr>
          <p:cNvSpPr/>
          <p:nvPr/>
        </p:nvSpPr>
        <p:spPr>
          <a:xfrm>
            <a:off x="0" y="2852871"/>
            <a:ext cx="12207240" cy="4005129"/>
          </a:xfrm>
          <a:prstGeom prst="rect">
            <a:avLst/>
          </a:prstGeom>
          <a:solidFill>
            <a:srgbClr val="EC1F2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0BAC1A-7BCA-04BD-3DDE-A2C667867804}"/>
              </a:ext>
            </a:extLst>
          </p:cNvPr>
          <p:cNvSpPr txBox="1"/>
          <p:nvPr/>
        </p:nvSpPr>
        <p:spPr>
          <a:xfrm>
            <a:off x="0" y="0"/>
            <a:ext cx="12192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Team, the decision is up to you. Here are some Courses of Action:</a:t>
            </a:r>
            <a:endParaRPr lang="en-US" sz="2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224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A05653-FF1D-DBF8-23E7-D1F398782ACB}"/>
              </a:ext>
            </a:extLst>
          </p:cNvPr>
          <p:cNvSpPr txBox="1"/>
          <p:nvPr/>
        </p:nvSpPr>
        <p:spPr>
          <a:xfrm>
            <a:off x="0" y="0"/>
            <a:ext cx="12192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What are the ranges of salaries for the 4 categories of experience? Interquartile Range 25%-75% salary range/band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Also determine what mix of experience types we should consider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Do we pay a premium for an employee who lives in the U.S.?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Could do a regression and give a confidence interval</a:t>
            </a:r>
          </a:p>
        </p:txBody>
      </p:sp>
    </p:spTree>
    <p:extLst>
      <p:ext uri="{BB962C8B-B14F-4D97-AF65-F5344CB8AC3E}">
        <p14:creationId xmlns:p14="http://schemas.microsoft.com/office/powerpoint/2010/main" val="2583383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17580</TotalTime>
  <Words>1217</Words>
  <Application>Microsoft Office PowerPoint</Application>
  <PresentationFormat>Widescreen</PresentationFormat>
  <Paragraphs>211</Paragraphs>
  <Slides>16</Slides>
  <Notes>11</Notes>
  <HiddenSlides>12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Helvetica Neue Light</vt:lpstr>
      <vt:lpstr>Roboto Slab</vt:lpstr>
      <vt:lpstr>Office Theme</vt:lpstr>
      <vt:lpstr>Let’s find a Data Scientist</vt:lpstr>
      <vt:lpstr>PowerPoint Presentation</vt:lpstr>
      <vt:lpstr>PowerPoint Presentation</vt:lpstr>
      <vt:lpstr>PowerPoint Presentation</vt:lpstr>
      <vt:lpstr>EXTRA WORK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O</dc:creator>
  <cp:lastModifiedBy>Martin O</cp:lastModifiedBy>
  <cp:revision>56</cp:revision>
  <dcterms:created xsi:type="dcterms:W3CDTF">2025-11-12T21:08:12Z</dcterms:created>
  <dcterms:modified xsi:type="dcterms:W3CDTF">2025-11-29T14:20:36Z</dcterms:modified>
</cp:coreProperties>
</file>